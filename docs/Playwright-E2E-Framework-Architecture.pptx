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 intro: this is our in-house Playwright + TypeScript E2E framework. Goal of this review: make the case for the framework vs. a bare test set, walk the architecture and the reporting/CI-CD pipeline, and show how we fold the existing web-pet-golang Playwright e2e specs in without duplicating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core argument: the web-pet Playwright layer is 56 spec files plus minimal glue — no reusable engineering layer (no POM base, no external data layer, no multi-auth API, no rich reporting, no CI notification pipeline). Our project IS that layer. The move is not 'rebuild tests' — it's migrate the existing specs onto this platform and delete the duplicate glue. Scope only the e2e layer; the Go (451) and Vitest (230) layers stay put. Four phases; and be fair — web-pet's storageState auth and equiv/ parity are good, we keep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quick — it's a signpost. Emphasise two things the architect cares about most: the CI/CD trigger model and the no-duplication consolidation of the existing 56 web-pet specs.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intentional and disciplined: we deliberately keep base classes thin (call Playwright's Locator/expect directly) and only add structure when a real second consumer appears. That keeps onboarding fast.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 to bottom: a run is triggered (L1), config resolves the environment (L2), global setup logs in once and saves storage state (L3), fixtures inject page objects and run lifecycle hooks (L4), tests drive pages/components (L5) with data from JSON/CSV (L6), API calls go through the auth layer (L7), and everything fans out to reporting (L8).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recent tidy-up: single-file concerns collapsed into core/, and the structure is flat where it should be. Each folder maps to a capability we'll cover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POM keeps locators in one place per page; components keep reusable widgets DRY. Data-driven means QA can add cases by editing a JSON/CSV row — no TS changes — which is the key to scaling coverage.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independent auth paths: (1) browser login once via storageState for UI tests, (2) API request auth (OAuth2/Basic/API-Key) for direct API calls and validation. ExecutionContext gives every report the run's branch/commit/trigger.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differentiator: authoring isn't manual. Four repo-scoped Claude skills encode our conventions — ui-script-generator (scenario in chat → spec), data-driven-testing (runnerManager rows + fixtures), tdd (red/green), and jira-to-script (ticket → passing spec). Three Playwright subagents do the browser work via the playwright-test MCP server: the planner explores the live app and writes a plan, the generator executes each step live then emits the spec, and the healer runs failures and repairs selectors/timing. The key point: because the skills embed the framework's POM/fixtures/data-driven rules, the AI output drops straight into the suite and runs — it doesn't fight our conventions.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don't tell: these are our actual rich Email and Slack notifications, environment-tagged (DEV + CI badges), with pass rate, counts, duration, metadata, and failures showing the spec file + error line. The key reliability win is the Allure size-fix — screenshots only, so the single-file report no longer blows the size limit; video and full trace remain in the Playwright HTML report and CI artifacts. Email, Slack and ELK share one runSummary module; all are opt-in. ELK is scaffolded, not yet wired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flow: a developer commit lands in the dev repo, GitHub Actions builds and deploys to DEV, and the DEV deploy automatically triggers the Playwright automation — it runs the tests, generates the report &amp; artifacts, returns a PASS/FAIL status, and developer &amp; QA review the results. The amber path shows the second entry point: a 4:00 PM IST cron (and manual dispatch) that triggers the automation directly, independent of a deploy. Results go back via Allure, Email and Slack.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on security: no secrets in git; CI secrets override committed defaults. Notifications are opt-in per channel via SEND_EMAIL / SEND_SLACK / SEND_RESULT_ELK, so local runs stay silent unless you ask.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architect will probe. Message: we do NOT keep two harnesses. The 56 web-pet specs migrate into the framework and reuse its auth, config, and reporting. employee.spec.ts (their documented reference, 14/14) is a natural first spec to port. We preserve what's valuable — resolve-ids-by-name, the equiv/ parity suite, and the JSDoc header convention. Net result: one config, one auth, one reporting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an honest status: the framework capabilities, reporting, and the CI/CD pipeline are in place; the open items are (1) wiring ELK to a live endpoint, (2) migrating the 56 web-pet e2e specs onto the platform while preserving the equiv/ parity suite and porting the picker helpers to components, and (3) broadening coverage beyond the login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2191695" cy="73152"/>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10515600" cy="1463040"/>
          </a:xfrm>
          <a:prstGeom prst="rect">
            <a:avLst/>
          </a:prstGeom>
          <a:noFill/>
        </p:spPr>
        <p:txBody>
          <a:bodyPr wrap="square" anchor="t" lIns="0" rIns="0" tIns="0" bIns="0">
            <a:spAutoFit/>
          </a:bodyPr>
          <a:lstStyle/>
          <a:p>
            <a:pPr algn="l">
              <a:spcBef>
                <a:spcPts val="0"/>
              </a:spcBef>
              <a:spcAft>
                <a:spcPts val="800"/>
              </a:spcAft>
            </a:pPr>
            <a:r>
              <a:rPr sz="1300" b="1" i="0">
                <a:solidFill>
                  <a:srgbClr val="2BB2A6"/>
                </a:solidFill>
                <a:latin typeface="Segoe UI"/>
              </a:rPr>
              <a:t>PLAYWRIGHT ENTERPRISE E2E TEST FRAMEWORK</a:t>
            </a:r>
          </a:p>
          <a:p>
            <a:pPr algn="l">
              <a:spcBef>
                <a:spcPts val="0"/>
              </a:spcBef>
              <a:spcAft>
                <a:spcPts val="0"/>
              </a:spcAft>
            </a:pPr>
            <a:r>
              <a:rPr sz="4000" b="1" i="0">
                <a:solidFill>
                  <a:srgbClr val="FFFFFF"/>
                </a:solidFill>
                <a:latin typeface="Segoe UI"/>
              </a:rPr>
              <a:t>Architecture &amp; CI/CD Overview</a:t>
            </a:r>
          </a:p>
        </p:txBody>
      </p:sp>
      <p:sp>
        <p:nvSpPr>
          <p:cNvPr id="5" name="TextBox 4"/>
          <p:cNvSpPr txBox="1"/>
          <p:nvPr/>
        </p:nvSpPr>
        <p:spPr>
          <a:xfrm>
            <a:off x="822960" y="3840480"/>
            <a:ext cx="10515600" cy="1463040"/>
          </a:xfrm>
          <a:prstGeom prst="rect">
            <a:avLst/>
          </a:prstGeom>
          <a:noFill/>
        </p:spPr>
        <p:txBody>
          <a:bodyPr wrap="square" anchor="t" lIns="0" rIns="0" tIns="0" bIns="0">
            <a:spAutoFit/>
          </a:bodyPr>
          <a:lstStyle/>
          <a:p>
            <a:pPr algn="l">
              <a:spcBef>
                <a:spcPts val="0"/>
              </a:spcBef>
              <a:spcAft>
                <a:spcPts val="1800"/>
              </a:spcAft>
            </a:pPr>
            <a:r>
              <a:rPr sz="1500" b="0" i="0">
                <a:solidFill>
                  <a:srgbClr val="C9D6E2"/>
                </a:solidFill>
                <a:latin typeface="Segoe UI"/>
              </a:rPr>
              <a:t>Page Object Model  ·  Data-Driven  ·  Multi-Auth API  ·  Rich Reporting  ·  GitHub Actions CI/CD</a:t>
            </a:r>
          </a:p>
          <a:p>
            <a:pPr algn="l">
              <a:spcBef>
                <a:spcPts val="0"/>
              </a:spcBef>
              <a:spcAft>
                <a:spcPts val="200"/>
              </a:spcAft>
            </a:pPr>
            <a:r>
              <a:rPr sz="1300" b="1" i="0">
                <a:solidFill>
                  <a:srgbClr val="FFFFFF"/>
                </a:solidFill>
                <a:latin typeface="Segoe UI"/>
              </a:rPr>
              <a:t>Prepared for: Technical Architecture Review</a:t>
            </a:r>
          </a:p>
          <a:p>
            <a:pPr algn="l">
              <a:spcBef>
                <a:spcPts val="0"/>
              </a:spcBef>
              <a:spcAft>
                <a:spcPts val="600"/>
              </a:spcAft>
            </a:pPr>
            <a:r>
              <a:rPr sz="1200" b="0" i="0">
                <a:solidFill>
                  <a:srgbClr val="949CA8"/>
                </a:solidFill>
                <a:latin typeface="Segoe UI"/>
              </a:rPr>
              <a:t>Presenter: Gukan  ·  QA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THE CASE</a:t>
            </a:r>
          </a:p>
          <a:p>
            <a:pPr algn="l">
              <a:spcBef>
                <a:spcPts val="0"/>
              </a:spcBef>
              <a:spcAft>
                <a:spcPts val="0"/>
              </a:spcAft>
            </a:pPr>
            <a:r>
              <a:rPr sz="2400" b="1" i="0">
                <a:solidFill>
                  <a:srgbClr val="FFFFFF"/>
                </a:solidFill>
                <a:latin typeface="Segoe UI"/>
              </a:rPr>
              <a:t>Migration Plan — Why This Framework</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2</a:t>
            </a:r>
          </a:p>
        </p:txBody>
      </p:sp>
      <p:sp>
        <p:nvSpPr>
          <p:cNvPr id="7" name="TextBox 6"/>
          <p:cNvSpPr txBox="1"/>
          <p:nvPr/>
        </p:nvSpPr>
        <p:spPr>
          <a:xfrm>
            <a:off x="548640" y="1051560"/>
            <a:ext cx="11094415" cy="411480"/>
          </a:xfrm>
          <a:prstGeom prst="rect">
            <a:avLst/>
          </a:prstGeom>
          <a:noFill/>
        </p:spPr>
        <p:txBody>
          <a:bodyPr wrap="square" anchor="t" lIns="0" rIns="0" tIns="0" bIns="0">
            <a:spAutoFit/>
          </a:bodyPr>
          <a:lstStyle/>
          <a:p>
            <a:r>
              <a:rPr sz="1500" b="1" i="0">
                <a:solidFill>
                  <a:srgbClr val="1F2937"/>
                </a:solidFill>
                <a:latin typeface="Segoe UI"/>
              </a:rPr>
              <a:t>The web-pet e2e suite is a set of tests — not a framework.  </a:t>
            </a:r>
            <a:r>
              <a:rPr sz="1500" b="1" i="0">
                <a:solidFill>
                  <a:srgbClr val="2BB2A6"/>
                </a:solidFill>
                <a:latin typeface="Segoe UI"/>
              </a:rPr>
              <a:t>This project is the platform those tests should run on.</a:t>
            </a:r>
          </a:p>
        </p:txBody>
      </p:sp>
      <p:sp>
        <p:nvSpPr>
          <p:cNvPr id="8" name="TextBox 7"/>
          <p:cNvSpPr txBox="1"/>
          <p:nvPr/>
        </p:nvSpPr>
        <p:spPr>
          <a:xfrm>
            <a:off x="548640" y="1463040"/>
            <a:ext cx="11094415" cy="292608"/>
          </a:xfrm>
          <a:prstGeom prst="rect">
            <a:avLst/>
          </a:prstGeom>
          <a:noFill/>
        </p:spPr>
        <p:txBody>
          <a:bodyPr wrap="square" anchor="t" lIns="0" rIns="0" tIns="0" bIns="0">
            <a:spAutoFit/>
          </a:bodyPr>
          <a:lstStyle/>
          <a:p>
            <a:pPr algn="l">
              <a:spcBef>
                <a:spcPts val="0"/>
              </a:spcBef>
              <a:spcAft>
                <a:spcPts val="600"/>
              </a:spcAft>
            </a:pPr>
            <a:r>
              <a:rPr sz="1150" b="0" i="0">
                <a:solidFill>
                  <a:srgbClr val="5B6472"/>
                </a:solidFill>
                <a:latin typeface="Segoe UI"/>
              </a:rPr>
              <a:t>Scope: this targets the Playwright e2e layer only — 56 specs. The web-pet Go API (451) and Vitest (230) test layers are separate and unaffected.</a:t>
            </a:r>
          </a:p>
        </p:txBody>
      </p:sp>
      <p:graphicFrame>
        <p:nvGraphicFramePr>
          <p:cNvPr id="9" name="Table 8"/>
          <p:cNvGraphicFramePr>
            <a:graphicFrameLocks noGrp="1"/>
          </p:cNvGraphicFramePr>
          <p:nvPr/>
        </p:nvGraphicFramePr>
        <p:xfrm>
          <a:off x="548640" y="1810512"/>
          <a:ext cx="11091672" cy="2615184"/>
        </p:xfrm>
        <a:graphic>
          <a:graphicData uri="http://schemas.openxmlformats.org/drawingml/2006/table">
            <a:tbl>
              <a:tblPr>
                <a:tableStyleId>{5C22544A-7EE6-4342-B048-85BDC9FD1C3A}</a:tableStyleId>
              </a:tblPr>
              <a:tblGrid>
                <a:gridCol w="2743200"/>
                <a:gridCol w="4114800"/>
                <a:gridCol w="4233672"/>
              </a:tblGrid>
              <a:tr h="420624">
                <a:tc>
                  <a:txBody>
                    <a:bodyPr/>
                    <a:lstStyle/>
                    <a:p>
                      <a:r>
                        <a:rPr sz="1200" b="1" i="0">
                          <a:solidFill>
                            <a:srgbClr val="FFFFFF"/>
                          </a:solidFill>
                          <a:latin typeface="Segoe UI"/>
                        </a:rPr>
                        <a:t>Capability</a:t>
                      </a:r>
                    </a:p>
                  </a:txBody>
                  <a:tcPr marL="109728" marR="91440" marT="27432" marB="27432" anchor="ctr">
                    <a:solidFill>
                      <a:srgbClr val="0F2D4A"/>
                    </a:solidFill>
                  </a:tcPr>
                </a:tc>
                <a:tc>
                  <a:txBody>
                    <a:bodyPr/>
                    <a:lstStyle/>
                    <a:p>
                      <a:r>
                        <a:rPr sz="1200" b="1" i="0">
                          <a:solidFill>
                            <a:srgbClr val="FFFFFF"/>
                          </a:solidFill>
                          <a:latin typeface="Segoe UI"/>
                        </a:rPr>
                        <a:t>web-pet e2e  (tests only)</a:t>
                      </a:r>
                    </a:p>
                  </a:txBody>
                  <a:tcPr marL="109728" marR="91440" marT="27432" marB="27432" anchor="ctr">
                    <a:solidFill>
                      <a:srgbClr val="0F2D4A"/>
                    </a:solidFill>
                  </a:tcPr>
                </a:tc>
                <a:tc>
                  <a:txBody>
                    <a:bodyPr/>
                    <a:lstStyle/>
                    <a:p>
                      <a:r>
                        <a:rPr sz="1200" b="1" i="0">
                          <a:solidFill>
                            <a:srgbClr val="FFFFFF"/>
                          </a:solidFill>
                          <a:latin typeface="Segoe UI"/>
                        </a:rPr>
                        <a:t>This framework</a:t>
                      </a:r>
                    </a:p>
                  </a:txBody>
                  <a:tcPr marL="109728" marR="91440" marT="27432" marB="27432" anchor="ctr">
                    <a:solidFill>
                      <a:srgbClr val="2BB2A6"/>
                    </a:solidFill>
                  </a:tcPr>
                </a:tc>
              </a:tr>
              <a:tr h="438912">
                <a:tc>
                  <a:txBody>
                    <a:bodyPr/>
                    <a:lstStyle/>
                    <a:p>
                      <a:r>
                        <a:rPr sz="1150" b="1" i="0">
                          <a:solidFill>
                            <a:srgbClr val="0F2D4A"/>
                          </a:solidFill>
                          <a:latin typeface="Segoe UI"/>
                        </a:rPr>
                        <a:t>Reusable POM / components</a:t>
                      </a:r>
                    </a:p>
                  </a:txBody>
                  <a:tcPr marL="109728" marR="91440" marT="27432" marB="27432" anchor="ctr">
                    <a:solidFill>
                      <a:srgbClr val="FFFFFF"/>
                    </a:solidFill>
                  </a:tcPr>
                </a:tc>
                <a:tc>
                  <a:txBody>
                    <a:bodyPr/>
                    <a:lstStyle/>
                    <a:p>
                      <a:r>
                        <a:rPr sz="1150" b="0" i="0">
                          <a:solidFill>
                            <a:srgbClr val="5B6472"/>
                          </a:solidFill>
                          <a:latin typeface="Segoe UI"/>
                        </a:rPr>
                        <a:t>No page-object layer</a:t>
                      </a:r>
                    </a:p>
                  </a:txBody>
                  <a:tcPr marL="109728" marR="91440" marT="27432" marB="27432" anchor="ctr">
                    <a:solidFill>
                      <a:srgbClr val="FFFFFF"/>
                    </a:solidFill>
                  </a:tcPr>
                </a:tc>
                <a:tc>
                  <a:txBody>
                    <a:bodyPr/>
                    <a:lstStyle/>
                    <a:p>
                      <a:r>
                        <a:rPr sz="1150" b="1" i="0">
                          <a:solidFill>
                            <a:srgbClr val="1F2937"/>
                          </a:solidFill>
                          <a:latin typeface="Segoe UI"/>
                        </a:rPr>
                        <a:t>BasePage + Nav / Modal / Form</a:t>
                      </a:r>
                    </a:p>
                  </a:txBody>
                  <a:tcPr marL="109728" marR="91440" marT="27432" marB="27432" anchor="ctr">
                    <a:solidFill>
                      <a:srgbClr val="FFFFFF"/>
                    </a:solidFill>
                  </a:tcPr>
                </a:tc>
              </a:tr>
              <a:tr h="438912">
                <a:tc>
                  <a:txBody>
                    <a:bodyPr/>
                    <a:lstStyle/>
                    <a:p>
                      <a:r>
                        <a:rPr sz="1150" b="1" i="0">
                          <a:solidFill>
                            <a:srgbClr val="0F2D4A"/>
                          </a:solidFill>
                          <a:latin typeface="Segoe UI"/>
                        </a:rPr>
                        <a:t>External test data</a:t>
                      </a:r>
                    </a:p>
                  </a:txBody>
                  <a:tcPr marL="109728" marR="91440" marT="27432" marB="27432" anchor="ctr">
                    <a:solidFill>
                      <a:srgbClr val="F3F6F9"/>
                    </a:solidFill>
                  </a:tcPr>
                </a:tc>
                <a:tc>
                  <a:txBody>
                    <a:bodyPr/>
                    <a:lstStyle/>
                    <a:p>
                      <a:r>
                        <a:rPr sz="1150" b="0" i="0">
                          <a:solidFill>
                            <a:srgbClr val="5B6472"/>
                          </a:solidFill>
                          <a:latin typeface="Segoe UI"/>
                        </a:rPr>
                        <a:t>By-name id lookups in specs</a:t>
                      </a:r>
                    </a:p>
                  </a:txBody>
                  <a:tcPr marL="109728" marR="91440" marT="27432" marB="27432" anchor="ctr">
                    <a:solidFill>
                      <a:srgbClr val="F3F6F9"/>
                    </a:solidFill>
                  </a:tcPr>
                </a:tc>
                <a:tc>
                  <a:txBody>
                    <a:bodyPr/>
                    <a:lstStyle/>
                    <a:p>
                      <a:r>
                        <a:rPr sz="1150" b="1" i="0">
                          <a:solidFill>
                            <a:srgbClr val="1F2937"/>
                          </a:solidFill>
                          <a:latin typeface="Segoe UI"/>
                        </a:rPr>
                        <a:t>JSON / CSV data-driven layer</a:t>
                      </a:r>
                    </a:p>
                  </a:txBody>
                  <a:tcPr marL="109728" marR="91440" marT="27432" marB="27432" anchor="ctr">
                    <a:solidFill>
                      <a:srgbClr val="F3F6F9"/>
                    </a:solidFill>
                  </a:tcPr>
                </a:tc>
              </a:tr>
              <a:tr h="438912">
                <a:tc>
                  <a:txBody>
                    <a:bodyPr/>
                    <a:lstStyle/>
                    <a:p>
                      <a:r>
                        <a:rPr sz="1150" b="1" i="0">
                          <a:solidFill>
                            <a:srgbClr val="0F2D4A"/>
                          </a:solidFill>
                          <a:latin typeface="Segoe UI"/>
                        </a:rPr>
                        <a:t>API authentication</a:t>
                      </a:r>
                    </a:p>
                  </a:txBody>
                  <a:tcPr marL="109728" marR="91440" marT="27432" marB="27432" anchor="ctr">
                    <a:solidFill>
                      <a:srgbClr val="FFFFFF"/>
                    </a:solidFill>
                  </a:tcPr>
                </a:tc>
                <a:tc>
                  <a:txBody>
                    <a:bodyPr/>
                    <a:lstStyle/>
                    <a:p>
                      <a:r>
                        <a:rPr sz="1150" b="0" i="0">
                          <a:solidFill>
                            <a:srgbClr val="5B6472"/>
                          </a:solidFill>
                          <a:latin typeface="Segoe UI"/>
                        </a:rPr>
                        <a:t>Session login (storageState)</a:t>
                      </a:r>
                    </a:p>
                  </a:txBody>
                  <a:tcPr marL="109728" marR="91440" marT="27432" marB="27432" anchor="ctr">
                    <a:solidFill>
                      <a:srgbClr val="FFFFFF"/>
                    </a:solidFill>
                  </a:tcPr>
                </a:tc>
                <a:tc>
                  <a:txBody>
                    <a:bodyPr/>
                    <a:lstStyle/>
                    <a:p>
                      <a:r>
                        <a:rPr sz="1150" b="1" i="0">
                          <a:solidFill>
                            <a:srgbClr val="1F2937"/>
                          </a:solidFill>
                          <a:latin typeface="Segoe UI"/>
                        </a:rPr>
                        <a:t>OAuth2 / Basic / API-Key + retry</a:t>
                      </a:r>
                    </a:p>
                  </a:txBody>
                  <a:tcPr marL="109728" marR="91440" marT="27432" marB="27432" anchor="ctr">
                    <a:solidFill>
                      <a:srgbClr val="FFFFFF"/>
                    </a:solidFill>
                  </a:tcPr>
                </a:tc>
              </a:tr>
              <a:tr h="438912">
                <a:tc>
                  <a:txBody>
                    <a:bodyPr/>
                    <a:lstStyle/>
                    <a:p>
                      <a:r>
                        <a:rPr sz="1150" b="1" i="0">
                          <a:solidFill>
                            <a:srgbClr val="0F2D4A"/>
                          </a:solidFill>
                          <a:latin typeface="Segoe UI"/>
                        </a:rPr>
                        <a:t>Reporting</a:t>
                      </a:r>
                    </a:p>
                  </a:txBody>
                  <a:tcPr marL="109728" marR="91440" marT="27432" marB="27432" anchor="ctr">
                    <a:solidFill>
                      <a:srgbClr val="F3F6F9"/>
                    </a:solidFill>
                  </a:tcPr>
                </a:tc>
                <a:tc>
                  <a:txBody>
                    <a:bodyPr/>
                    <a:lstStyle/>
                    <a:p>
                      <a:r>
                        <a:rPr sz="1150" b="0" i="0">
                          <a:solidFill>
                            <a:srgbClr val="5B6472"/>
                          </a:solidFill>
                          <a:latin typeface="Segoe UI"/>
                        </a:rPr>
                        <a:t>Playwright HTML only</a:t>
                      </a:r>
                    </a:p>
                  </a:txBody>
                  <a:tcPr marL="109728" marR="91440" marT="27432" marB="27432" anchor="ctr">
                    <a:solidFill>
                      <a:srgbClr val="F3F6F9"/>
                    </a:solidFill>
                  </a:tcPr>
                </a:tc>
                <a:tc>
                  <a:txBody>
                    <a:bodyPr/>
                    <a:lstStyle/>
                    <a:p>
                      <a:r>
                        <a:rPr sz="1150" b="1" i="0">
                          <a:solidFill>
                            <a:srgbClr val="1F2937"/>
                          </a:solidFill>
                          <a:latin typeface="Segoe UI"/>
                        </a:rPr>
                        <a:t>HTML · Allure · Email · Slack · ELK*</a:t>
                      </a:r>
                    </a:p>
                  </a:txBody>
                  <a:tcPr marL="109728" marR="91440" marT="27432" marB="27432" anchor="ctr">
                    <a:solidFill>
                      <a:srgbClr val="F3F6F9"/>
                    </a:solidFill>
                  </a:tcPr>
                </a:tc>
              </a:tr>
              <a:tr h="438912">
                <a:tc>
                  <a:txBody>
                    <a:bodyPr/>
                    <a:lstStyle/>
                    <a:p>
                      <a:r>
                        <a:rPr sz="1150" b="1" i="0">
                          <a:solidFill>
                            <a:srgbClr val="0F2D4A"/>
                          </a:solidFill>
                          <a:latin typeface="Segoe UI"/>
                        </a:rPr>
                        <a:t>CI/CD &amp; notifications</a:t>
                      </a:r>
                    </a:p>
                  </a:txBody>
                  <a:tcPr marL="109728" marR="91440" marT="27432" marB="27432" anchor="ctr">
                    <a:solidFill>
                      <a:srgbClr val="FFFFFF"/>
                    </a:solidFill>
                  </a:tcPr>
                </a:tc>
                <a:tc>
                  <a:txBody>
                    <a:bodyPr/>
                    <a:lstStyle/>
                    <a:p>
                      <a:r>
                        <a:rPr sz="1150" b="0" i="0">
                          <a:solidFill>
                            <a:srgbClr val="5B6472"/>
                          </a:solidFill>
                          <a:latin typeface="Segoe UI"/>
                        </a:rPr>
                        <a:t>Manual run; no notify pipeline</a:t>
                      </a:r>
                    </a:p>
                  </a:txBody>
                  <a:tcPr marL="109728" marR="91440" marT="27432" marB="27432" anchor="ctr">
                    <a:solidFill>
                      <a:srgbClr val="FFFFFF"/>
                    </a:solidFill>
                  </a:tcPr>
                </a:tc>
                <a:tc>
                  <a:txBody>
                    <a:bodyPr/>
                    <a:lstStyle/>
                    <a:p>
                      <a:r>
                        <a:rPr sz="1150" b="1" i="0">
                          <a:solidFill>
                            <a:srgbClr val="1F2937"/>
                          </a:solidFill>
                          <a:latin typeface="Segoe UI"/>
                        </a:rPr>
                        <a:t>Push / cron / dispatch + Email / Slack</a:t>
                      </a:r>
                    </a:p>
                  </a:txBody>
                  <a:tcPr marL="109728" marR="91440" marT="27432" marB="27432" anchor="ctr">
                    <a:solidFill>
                      <a:srgbClr val="FFFFFF"/>
                    </a:solidFill>
                  </a:tcPr>
                </a:tc>
              </a:tr>
            </a:tbl>
          </a:graphicData>
        </a:graphic>
      </p:graphicFrame>
      <p:sp>
        <p:nvSpPr>
          <p:cNvPr id="10" name="TextBox 9"/>
          <p:cNvSpPr txBox="1"/>
          <p:nvPr/>
        </p:nvSpPr>
        <p:spPr>
          <a:xfrm>
            <a:off x="548640" y="4462272"/>
            <a:ext cx="11094415" cy="274320"/>
          </a:xfrm>
          <a:prstGeom prst="rect">
            <a:avLst/>
          </a:prstGeom>
          <a:noFill/>
        </p:spPr>
        <p:txBody>
          <a:bodyPr wrap="square" anchor="t" lIns="0" rIns="0" tIns="0" bIns="0">
            <a:spAutoFit/>
          </a:bodyPr>
          <a:lstStyle/>
          <a:p>
            <a:pPr algn="l">
              <a:spcBef>
                <a:spcPts val="0"/>
              </a:spcBef>
              <a:spcAft>
                <a:spcPts val="600"/>
              </a:spcAft>
            </a:pPr>
            <a:r>
              <a:rPr sz="1050" b="0" i="1">
                <a:solidFill>
                  <a:srgbClr val="949CA8"/>
                </a:solidFill>
                <a:latin typeface="Segoe UI"/>
              </a:rPr>
              <a:t>web-pet's strengths — storageState auth, resolve-ids-by-name, and the equiv/ legacy-parity suite — are preserved as framework conventions.   * ELK in progress.</a:t>
            </a:r>
          </a:p>
        </p:txBody>
      </p:sp>
      <p:sp>
        <p:nvSpPr>
          <p:cNvPr id="11" name="TextBox 10"/>
          <p:cNvSpPr txBox="1"/>
          <p:nvPr/>
        </p:nvSpPr>
        <p:spPr>
          <a:xfrm>
            <a:off x="548640" y="4773168"/>
            <a:ext cx="11094415" cy="274320"/>
          </a:xfrm>
          <a:prstGeom prst="rect">
            <a:avLst/>
          </a:prstGeom>
          <a:noFill/>
        </p:spPr>
        <p:txBody>
          <a:bodyPr wrap="square" anchor="t" lIns="0" rIns="0" tIns="0" bIns="0">
            <a:spAutoFit/>
          </a:bodyPr>
          <a:lstStyle/>
          <a:p>
            <a:pPr algn="l">
              <a:spcBef>
                <a:spcPts val="0"/>
              </a:spcBef>
              <a:spcAft>
                <a:spcPts val="600"/>
              </a:spcAft>
            </a:pPr>
            <a:r>
              <a:rPr sz="1100" b="1" i="0">
                <a:solidFill>
                  <a:srgbClr val="2BB2A6"/>
                </a:solidFill>
                <a:latin typeface="Segoe UI"/>
              </a:rPr>
              <a:t>MIGRATION PLAN</a:t>
            </a:r>
          </a:p>
        </p:txBody>
      </p:sp>
      <p:sp>
        <p:nvSpPr>
          <p:cNvPr id="12" name="Rounded Rectangle 11"/>
          <p:cNvSpPr/>
          <p:nvPr/>
        </p:nvSpPr>
        <p:spPr>
          <a:xfrm>
            <a:off x="548640" y="5047488"/>
            <a:ext cx="2697480" cy="841248"/>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047488"/>
            <a:ext cx="82296" cy="841248"/>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138928"/>
            <a:ext cx="2368296" cy="685800"/>
          </a:xfrm>
          <a:prstGeom prst="rect">
            <a:avLst/>
          </a:prstGeom>
          <a:noFill/>
        </p:spPr>
        <p:txBody>
          <a:bodyPr wrap="square" anchor="t" lIns="0" rIns="0" tIns="0" bIns="0">
            <a:spAutoFit/>
          </a:bodyPr>
          <a:lstStyle/>
          <a:p>
            <a:r>
              <a:rPr sz="1400" b="1" i="0">
                <a:solidFill>
                  <a:srgbClr val="2BB2A6"/>
                </a:solidFill>
                <a:latin typeface="Segoe UI"/>
              </a:rPr>
              <a:t>1  </a:t>
            </a:r>
            <a:r>
              <a:rPr sz="1250" b="1" i="0">
                <a:solidFill>
                  <a:srgbClr val="0F2D4A"/>
                </a:solidFill>
                <a:latin typeface="Segoe UI"/>
              </a:rPr>
              <a:t>Adopt the harness</a:t>
            </a:r>
          </a:p>
          <a:p>
            <a:pPr algn="l">
              <a:spcBef>
                <a:spcPts val="200"/>
              </a:spcBef>
              <a:spcAft>
                <a:spcPts val="600"/>
              </a:spcAft>
            </a:pPr>
            <a:r>
              <a:rPr sz="1050" b="0" i="0">
                <a:solidFill>
                  <a:srgbClr val="5B6472"/>
                </a:solidFill>
                <a:latin typeface="Segoe UI"/>
              </a:rPr>
              <a:t>Point specs at framework fixtures, config &amp; auth; retire parallel glue.</a:t>
            </a:r>
          </a:p>
        </p:txBody>
      </p:sp>
      <p:sp>
        <p:nvSpPr>
          <p:cNvPr id="15" name="Rounded Rectangle 14"/>
          <p:cNvSpPr/>
          <p:nvPr/>
        </p:nvSpPr>
        <p:spPr>
          <a:xfrm>
            <a:off x="3346704" y="5047488"/>
            <a:ext cx="2697480" cy="841248"/>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6704" y="5047488"/>
            <a:ext cx="82296" cy="841248"/>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5138928"/>
            <a:ext cx="2368296" cy="685800"/>
          </a:xfrm>
          <a:prstGeom prst="rect">
            <a:avLst/>
          </a:prstGeom>
          <a:noFill/>
        </p:spPr>
        <p:txBody>
          <a:bodyPr wrap="square" anchor="t" lIns="0" rIns="0" tIns="0" bIns="0">
            <a:spAutoFit/>
          </a:bodyPr>
          <a:lstStyle/>
          <a:p>
            <a:r>
              <a:rPr sz="1400" b="1" i="0">
                <a:solidFill>
                  <a:srgbClr val="2BB2A6"/>
                </a:solidFill>
                <a:latin typeface="Segoe UI"/>
              </a:rPr>
              <a:t>2  </a:t>
            </a:r>
            <a:r>
              <a:rPr sz="1250" b="1" i="0">
                <a:solidFill>
                  <a:srgbClr val="0F2D4A"/>
                </a:solidFill>
                <a:latin typeface="Segoe UI"/>
              </a:rPr>
              <a:t>Refactor to POM</a:t>
            </a:r>
          </a:p>
          <a:p>
            <a:pPr algn="l">
              <a:spcBef>
                <a:spcPts val="200"/>
              </a:spcBef>
              <a:spcAft>
                <a:spcPts val="600"/>
              </a:spcAft>
            </a:pPr>
            <a:r>
              <a:rPr sz="1050" b="0" i="0">
                <a:solidFill>
                  <a:srgbClr val="5B6472"/>
                </a:solidFill>
                <a:latin typeface="Segoe UI"/>
              </a:rPr>
              <a:t>Pickers → components; shared helpers; drop ad-hoc selectors.</a:t>
            </a:r>
          </a:p>
        </p:txBody>
      </p:sp>
      <p:sp>
        <p:nvSpPr>
          <p:cNvPr id="18" name="Rounded Rectangle 17"/>
          <p:cNvSpPr/>
          <p:nvPr/>
        </p:nvSpPr>
        <p:spPr>
          <a:xfrm>
            <a:off x="6144768" y="5047488"/>
            <a:ext cx="2697480" cy="841248"/>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5047488"/>
            <a:ext cx="82296" cy="841248"/>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5138928"/>
            <a:ext cx="2368296" cy="685800"/>
          </a:xfrm>
          <a:prstGeom prst="rect">
            <a:avLst/>
          </a:prstGeom>
          <a:noFill/>
        </p:spPr>
        <p:txBody>
          <a:bodyPr wrap="square" anchor="t" lIns="0" rIns="0" tIns="0" bIns="0">
            <a:spAutoFit/>
          </a:bodyPr>
          <a:lstStyle/>
          <a:p>
            <a:r>
              <a:rPr sz="1400" b="1" i="0">
                <a:solidFill>
                  <a:srgbClr val="2BB2A6"/>
                </a:solidFill>
                <a:latin typeface="Segoe UI"/>
              </a:rPr>
              <a:t>3  </a:t>
            </a:r>
            <a:r>
              <a:rPr sz="1250" b="1" i="0">
                <a:solidFill>
                  <a:srgbClr val="0F2D4A"/>
                </a:solidFill>
                <a:latin typeface="Segoe UI"/>
              </a:rPr>
              <a:t>Wire reporting &amp; CI</a:t>
            </a:r>
          </a:p>
          <a:p>
            <a:pPr algn="l">
              <a:spcBef>
                <a:spcPts val="200"/>
              </a:spcBef>
              <a:spcAft>
                <a:spcPts val="600"/>
              </a:spcAft>
            </a:pPr>
            <a:r>
              <a:rPr sz="1050" b="0" i="0">
                <a:solidFill>
                  <a:srgbClr val="5B6472"/>
                </a:solidFill>
                <a:latin typeface="Segoe UI"/>
              </a:rPr>
              <a:t>Route through Allure / Email / Slack; run under CI triggers.</a:t>
            </a:r>
          </a:p>
        </p:txBody>
      </p:sp>
      <p:sp>
        <p:nvSpPr>
          <p:cNvPr id="21" name="Rounded Rectangle 20"/>
          <p:cNvSpPr/>
          <p:nvPr/>
        </p:nvSpPr>
        <p:spPr>
          <a:xfrm>
            <a:off x="8942832" y="5047488"/>
            <a:ext cx="2697480" cy="841248"/>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42832" y="5047488"/>
            <a:ext cx="82296" cy="841248"/>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62288" y="5138928"/>
            <a:ext cx="2368296" cy="685800"/>
          </a:xfrm>
          <a:prstGeom prst="rect">
            <a:avLst/>
          </a:prstGeom>
          <a:noFill/>
        </p:spPr>
        <p:txBody>
          <a:bodyPr wrap="square" anchor="t" lIns="0" rIns="0" tIns="0" bIns="0">
            <a:spAutoFit/>
          </a:bodyPr>
          <a:lstStyle/>
          <a:p>
            <a:r>
              <a:rPr sz="1400" b="1" i="0">
                <a:solidFill>
                  <a:srgbClr val="2BB2A6"/>
                </a:solidFill>
                <a:latin typeface="Segoe UI"/>
              </a:rPr>
              <a:t>4  </a:t>
            </a:r>
            <a:r>
              <a:rPr sz="1250" b="1" i="0">
                <a:solidFill>
                  <a:srgbClr val="0F2D4A"/>
                </a:solidFill>
                <a:latin typeface="Segoe UI"/>
              </a:rPr>
              <a:t>Preserve parity</a:t>
            </a:r>
          </a:p>
          <a:p>
            <a:pPr algn="l">
              <a:spcBef>
                <a:spcPts val="200"/>
              </a:spcBef>
              <a:spcAft>
                <a:spcPts val="600"/>
              </a:spcAft>
            </a:pPr>
            <a:r>
              <a:rPr sz="1050" b="0" i="0">
                <a:solidFill>
                  <a:srgbClr val="5B6472"/>
                </a:solidFill>
                <a:latin typeface="Segoe UI"/>
              </a:rPr>
              <a:t>Keep equiv/ + by-name ids; then broaden coverage.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0"/>
              </a:spcAft>
            </a:pPr>
            <a:r>
              <a:rPr sz="2600" b="1" i="0">
                <a:solidFill>
                  <a:srgbClr val="FFFFFF"/>
                </a:solidFill>
                <a:latin typeface="Segoe UI"/>
              </a:rPr>
              <a:t>Agenda</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3</a:t>
            </a:r>
          </a:p>
        </p:txBody>
      </p:sp>
      <p:sp>
        <p:nvSpPr>
          <p:cNvPr id="7" name="TextBox 6"/>
          <p:cNvSpPr txBox="1"/>
          <p:nvPr/>
        </p:nvSpPr>
        <p:spPr>
          <a:xfrm>
            <a:off x="548640" y="1371600"/>
            <a:ext cx="11094415" cy="4937760"/>
          </a:xfrm>
          <a:prstGeom prst="rect">
            <a:avLst/>
          </a:prstGeom>
          <a:noFill/>
        </p:spPr>
        <p:txBody>
          <a:bodyPr wrap="square" anchor="t" lIns="0" rIns="0" tIns="0" bIns="0">
            <a:spAutoFit/>
          </a:bodyPr>
          <a:lstStyle/>
          <a:p>
            <a:pPr>
              <a:spcAft>
                <a:spcPts val="700"/>
              </a:spcAft>
            </a:pPr>
            <a:r>
              <a:rPr sz="1800" b="0" i="0">
                <a:solidFill>
                  <a:srgbClr val="1F2937"/>
                </a:solidFill>
                <a:latin typeface="Segoe UI"/>
              </a:rPr>
              <a:t>•  Migration plan &amp; why this framework — tests vs. platform</a:t>
            </a:r>
          </a:p>
          <a:p>
            <a:pPr>
              <a:spcAft>
                <a:spcPts val="700"/>
              </a:spcAft>
            </a:pPr>
            <a:r>
              <a:rPr sz="1800" b="0" i="0">
                <a:solidFill>
                  <a:srgbClr val="1F2937"/>
                </a:solidFill>
                <a:latin typeface="Segoe UI"/>
              </a:rPr>
              <a:t>•  Framework at a glance — purpose, stack, design principles</a:t>
            </a:r>
          </a:p>
          <a:p>
            <a:pPr>
              <a:spcAft>
                <a:spcPts val="700"/>
              </a:spcAft>
            </a:pPr>
            <a:r>
              <a:rPr sz="1800" b="0" i="0">
                <a:solidFill>
                  <a:srgbClr val="1F2937"/>
                </a:solidFill>
                <a:latin typeface="Segoe UI"/>
              </a:rPr>
              <a:t>•  Architecture — the layered design</a:t>
            </a:r>
          </a:p>
          <a:p>
            <a:pPr>
              <a:spcAft>
                <a:spcPts val="700"/>
              </a:spcAft>
            </a:pPr>
            <a:r>
              <a:rPr sz="1800" b="0" i="0">
                <a:solidFill>
                  <a:srgbClr val="1F2937"/>
                </a:solidFill>
                <a:latin typeface="Segoe UI"/>
              </a:rPr>
              <a:t>•  Project structure — how the code is organised</a:t>
            </a:r>
          </a:p>
          <a:p>
            <a:pPr>
              <a:spcAft>
                <a:spcPts val="700"/>
              </a:spcAft>
            </a:pPr>
            <a:r>
              <a:rPr sz="1800" b="0" i="0">
                <a:solidFill>
                  <a:srgbClr val="1F2937"/>
                </a:solidFill>
                <a:latin typeface="Segoe UI"/>
              </a:rPr>
              <a:t>•  Core capabilities — POM, data-driven, fixtures, API auth, observability</a:t>
            </a:r>
          </a:p>
          <a:p>
            <a:pPr>
              <a:spcAft>
                <a:spcPts val="700"/>
              </a:spcAft>
            </a:pPr>
            <a:r>
              <a:rPr sz="1800" b="0" i="0">
                <a:solidFill>
                  <a:srgbClr val="1F2937"/>
                </a:solidFill>
                <a:latin typeface="Segoe UI"/>
              </a:rPr>
              <a:t>•  AI-augmented authoring — Claude skills &amp; Playwright agents</a:t>
            </a:r>
          </a:p>
          <a:p>
            <a:pPr>
              <a:spcAft>
                <a:spcPts val="700"/>
              </a:spcAft>
            </a:pPr>
            <a:r>
              <a:rPr sz="1800" b="0" i="0">
                <a:solidFill>
                  <a:srgbClr val="1F2937"/>
                </a:solidFill>
                <a:latin typeface="Segoe UI"/>
              </a:rPr>
              <a:t>•  Reporting — Allure size-fix, rich Email &amp; Slack, ELK (in progress)</a:t>
            </a:r>
          </a:p>
          <a:p>
            <a:pPr>
              <a:spcAft>
                <a:spcPts val="700"/>
              </a:spcAft>
            </a:pPr>
            <a:r>
              <a:rPr sz="1800" b="0" i="0">
                <a:solidFill>
                  <a:srgbClr val="1F2937"/>
                </a:solidFill>
                <a:latin typeface="Segoe UI"/>
              </a:rPr>
              <a:t>•  CI/CD — triggers (dev push, cron, manual), pipeline, notifications, environments</a:t>
            </a:r>
          </a:p>
          <a:p>
            <a:pPr>
              <a:spcAft>
                <a:spcPts val="700"/>
              </a:spcAft>
            </a:pPr>
            <a:r>
              <a:rPr sz="1800" b="0" i="0">
                <a:solidFill>
                  <a:srgbClr val="1F2937"/>
                </a:solidFill>
                <a:latin typeface="Segoe UI"/>
              </a:rPr>
              <a:t>•  Consolidating the web-pet-golang e2e suite — one harness, no duplication</a:t>
            </a:r>
          </a:p>
          <a:p>
            <a:pPr>
              <a:spcAft>
                <a:spcPts val="700"/>
              </a:spcAft>
            </a:pPr>
            <a:r>
              <a:rPr sz="1800" b="0" i="0">
                <a:solidFill>
                  <a:srgbClr val="1F2937"/>
                </a:solidFill>
                <a:latin typeface="Segoe UI"/>
              </a:rPr>
              <a:t>•  Roadmap &amp; status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0"/>
              </a:spcAft>
            </a:pPr>
            <a:r>
              <a:rPr sz="2600" b="1" i="0">
                <a:solidFill>
                  <a:srgbClr val="FFFFFF"/>
                </a:solidFill>
                <a:latin typeface="Segoe UI"/>
              </a:rPr>
              <a:t>At a Glance</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4</a:t>
            </a:r>
          </a:p>
        </p:txBody>
      </p:sp>
      <p:sp>
        <p:nvSpPr>
          <p:cNvPr id="7" name="Rounded Rectangle 6"/>
          <p:cNvSpPr/>
          <p:nvPr/>
        </p:nvSpPr>
        <p:spPr>
          <a:xfrm>
            <a:off x="548640" y="1234440"/>
            <a:ext cx="3502152" cy="20116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34440"/>
            <a:ext cx="82296" cy="201168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380744"/>
            <a:ext cx="3118104" cy="173736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What it is</a:t>
            </a:r>
          </a:p>
          <a:p>
            <a:pPr algn="l">
              <a:spcBef>
                <a:spcPts val="0"/>
              </a:spcBef>
              <a:spcAft>
                <a:spcPts val="300"/>
              </a:spcAft>
            </a:pPr>
            <a:r>
              <a:rPr sz="1150" b="0" i="0">
                <a:solidFill>
                  <a:srgbClr val="5B6472"/>
                </a:solidFill>
                <a:latin typeface="Segoe UI"/>
              </a:rPr>
              <a:t>Enterprise Playwright + TypeScript E2E framework for the PET Tiger app.</a:t>
            </a:r>
          </a:p>
          <a:p>
            <a:pPr algn="l">
              <a:spcBef>
                <a:spcPts val="0"/>
              </a:spcBef>
              <a:spcAft>
                <a:spcPts val="300"/>
              </a:spcAft>
            </a:pPr>
            <a:r>
              <a:rPr sz="1150" b="0" i="0">
                <a:solidFill>
                  <a:srgbClr val="5B6472"/>
                </a:solidFill>
                <a:latin typeface="Segoe UI"/>
              </a:rPr>
              <a:t>Page Object Model + component architecture.</a:t>
            </a:r>
          </a:p>
          <a:p>
            <a:pPr algn="l">
              <a:spcBef>
                <a:spcPts val="0"/>
              </a:spcBef>
              <a:spcAft>
                <a:spcPts val="300"/>
              </a:spcAft>
            </a:pPr>
            <a:r>
              <a:rPr sz="1150" b="0" i="0">
                <a:solidFill>
                  <a:srgbClr val="5B6472"/>
                </a:solidFill>
                <a:latin typeface="Segoe UI"/>
              </a:rPr>
              <a:t>Scales with coverage — no upfront over-engineering.</a:t>
            </a:r>
          </a:p>
        </p:txBody>
      </p:sp>
      <p:sp>
        <p:nvSpPr>
          <p:cNvPr id="10" name="Rounded Rectangle 9"/>
          <p:cNvSpPr/>
          <p:nvPr/>
        </p:nvSpPr>
        <p:spPr>
          <a:xfrm>
            <a:off x="4251960" y="1234440"/>
            <a:ext cx="3502152" cy="20116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234440"/>
            <a:ext cx="82296" cy="201168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380744"/>
            <a:ext cx="3118104" cy="173736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Tech stack</a:t>
            </a:r>
          </a:p>
          <a:p>
            <a:pPr algn="l">
              <a:spcBef>
                <a:spcPts val="0"/>
              </a:spcBef>
              <a:spcAft>
                <a:spcPts val="300"/>
              </a:spcAft>
            </a:pPr>
            <a:r>
              <a:rPr sz="1150" b="0" i="0">
                <a:solidFill>
                  <a:srgbClr val="5B6472"/>
                </a:solidFill>
                <a:latin typeface="Segoe UI"/>
              </a:rPr>
              <a:t>Playwright Test 1.58  ·  TypeScript 5</a:t>
            </a:r>
          </a:p>
          <a:p>
            <a:pPr algn="l">
              <a:spcBef>
                <a:spcPts val="0"/>
              </a:spcBef>
              <a:spcAft>
                <a:spcPts val="300"/>
              </a:spcAft>
            </a:pPr>
            <a:r>
              <a:rPr sz="1150" b="0" i="0">
                <a:solidFill>
                  <a:srgbClr val="5B6472"/>
                </a:solidFill>
                <a:latin typeface="Segoe UI"/>
              </a:rPr>
              <a:t>Allure reporting + trend history</a:t>
            </a:r>
          </a:p>
          <a:p>
            <a:pPr algn="l">
              <a:spcBef>
                <a:spcPts val="0"/>
              </a:spcBef>
              <a:spcAft>
                <a:spcPts val="300"/>
              </a:spcAft>
            </a:pPr>
            <a:r>
              <a:rPr sz="1150" b="0" i="0">
                <a:solidFill>
                  <a:srgbClr val="5B6472"/>
                </a:solidFill>
                <a:latin typeface="Segoe UI"/>
              </a:rPr>
              <a:t>GitHub Actions CI  ·  Node 22 / Java 21</a:t>
            </a:r>
          </a:p>
          <a:p>
            <a:pPr algn="l">
              <a:spcBef>
                <a:spcPts val="0"/>
              </a:spcBef>
              <a:spcAft>
                <a:spcPts val="300"/>
              </a:spcAft>
            </a:pPr>
            <a:r>
              <a:rPr sz="1150" b="0" i="0">
                <a:solidFill>
                  <a:srgbClr val="5B6472"/>
                </a:solidFill>
                <a:latin typeface="Segoe UI"/>
              </a:rPr>
              <a:t>Nodemailer (email)  ·  Slack webhook</a:t>
            </a:r>
          </a:p>
        </p:txBody>
      </p:sp>
      <p:sp>
        <p:nvSpPr>
          <p:cNvPr id="13" name="Rounded Rectangle 12"/>
          <p:cNvSpPr/>
          <p:nvPr/>
        </p:nvSpPr>
        <p:spPr>
          <a:xfrm>
            <a:off x="7955280" y="1234440"/>
            <a:ext cx="3502152" cy="20116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234440"/>
            <a:ext cx="82296" cy="2011680"/>
          </a:xfrm>
          <a:prstGeom prst="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380744"/>
            <a:ext cx="3118104" cy="173736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Consolidation scope</a:t>
            </a:r>
          </a:p>
          <a:p>
            <a:pPr algn="l">
              <a:spcBef>
                <a:spcPts val="0"/>
              </a:spcBef>
              <a:spcAft>
                <a:spcPts val="300"/>
              </a:spcAft>
            </a:pPr>
            <a:r>
              <a:rPr sz="1150" b="0" i="0">
                <a:solidFill>
                  <a:srgbClr val="5B6472"/>
                </a:solidFill>
                <a:latin typeface="Segoe UI"/>
              </a:rPr>
              <a:t>web-pet-golang has 3 test layers: Go API (451), Vitest (230), Playwright e2e (56).</a:t>
            </a:r>
          </a:p>
          <a:p>
            <a:pPr algn="l">
              <a:spcBef>
                <a:spcPts val="0"/>
              </a:spcBef>
              <a:spcAft>
                <a:spcPts val="300"/>
              </a:spcAft>
            </a:pPr>
            <a:r>
              <a:rPr sz="1150" b="0" i="0">
                <a:solidFill>
                  <a:srgbClr val="5B6472"/>
                </a:solidFill>
                <a:latin typeface="Segoe UI"/>
              </a:rPr>
              <a:t>This platform consolidates the Playwright e2e layer only.</a:t>
            </a:r>
          </a:p>
          <a:p>
            <a:pPr algn="l">
              <a:spcBef>
                <a:spcPts val="0"/>
              </a:spcBef>
              <a:spcAft>
                <a:spcPts val="300"/>
              </a:spcAft>
            </a:pPr>
            <a:r>
              <a:rPr sz="1150" b="0" i="0">
                <a:solidFill>
                  <a:srgbClr val="5B6472"/>
                </a:solidFill>
                <a:latin typeface="Segoe UI"/>
              </a:rPr>
              <a:t>Go &amp; Vitest layers are unaffected.</a:t>
            </a:r>
          </a:p>
        </p:txBody>
      </p:sp>
      <p:sp>
        <p:nvSpPr>
          <p:cNvPr id="16" name="Rounded Rectangle 15"/>
          <p:cNvSpPr/>
          <p:nvPr/>
        </p:nvSpPr>
        <p:spPr>
          <a:xfrm>
            <a:off x="548640" y="3611880"/>
            <a:ext cx="11094415" cy="91440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600" b="1" i="0">
                <a:solidFill>
                  <a:srgbClr val="FFFFFF"/>
                </a:solidFill>
                <a:latin typeface="Segoe UI"/>
              </a:rPr>
              <a:t>One harness: authored tests + data + auth + reporting + CI, in a single maintained codebase.</a:t>
            </a:r>
          </a:p>
        </p:txBody>
      </p:sp>
      <p:sp>
        <p:nvSpPr>
          <p:cNvPr id="17" name="TextBox 16"/>
          <p:cNvSpPr txBox="1"/>
          <p:nvPr/>
        </p:nvSpPr>
        <p:spPr>
          <a:xfrm>
            <a:off x="548640" y="4754880"/>
            <a:ext cx="11094415" cy="1463040"/>
          </a:xfrm>
          <a:prstGeom prst="rect">
            <a:avLst/>
          </a:prstGeom>
          <a:noFill/>
        </p:spPr>
        <p:txBody>
          <a:bodyPr wrap="square" anchor="t" lIns="0" rIns="0" tIns="0" bIns="0">
            <a:spAutoFit/>
          </a:bodyPr>
          <a:lstStyle/>
          <a:p>
            <a:pPr algn="l">
              <a:spcBef>
                <a:spcPts val="0"/>
              </a:spcBef>
              <a:spcAft>
                <a:spcPts val="400"/>
              </a:spcAft>
            </a:pPr>
            <a:r>
              <a:rPr sz="1300" b="1" i="0">
                <a:solidFill>
                  <a:srgbClr val="2BB2A6"/>
                </a:solidFill>
                <a:latin typeface="Segoe UI"/>
              </a:rPr>
              <a:t>Design principle</a:t>
            </a:r>
          </a:p>
          <a:p>
            <a:pPr algn="l">
              <a:spcBef>
                <a:spcPts val="0"/>
              </a:spcBef>
              <a:spcAft>
                <a:spcPts val="600"/>
              </a:spcAft>
            </a:pPr>
            <a:r>
              <a:rPr sz="1300" b="0" i="0">
                <a:solidFill>
                  <a:srgbClr val="5B6472"/>
                </a:solidFill>
                <a:latin typeface="Segoe UI"/>
              </a:rPr>
              <a:t>Thin base classes over native Playwright APIs — no redundant wrappers; folders earn their place by real usage. Recent cleanup removed ~40 unused wrapper methods and pruned unused type surface to keep the framework lean and navigable.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LAYERED DESIGN</a:t>
            </a:r>
          </a:p>
          <a:p>
            <a:pPr algn="l">
              <a:spcBef>
                <a:spcPts val="0"/>
              </a:spcBef>
              <a:spcAft>
                <a:spcPts val="0"/>
              </a:spcAft>
            </a:pPr>
            <a:r>
              <a:rPr sz="2400" b="1" i="0">
                <a:solidFill>
                  <a:srgbClr val="FFFFFF"/>
                </a:solidFill>
                <a:latin typeface="Segoe UI"/>
              </a:rPr>
              <a:t>Architecture</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5</a:t>
            </a:r>
          </a:p>
        </p:txBody>
      </p:sp>
      <p:sp>
        <p:nvSpPr>
          <p:cNvPr id="7" name="Rounded Rectangle 6"/>
          <p:cNvSpPr/>
          <p:nvPr/>
        </p:nvSpPr>
        <p:spPr>
          <a:xfrm>
            <a:off x="548640" y="1170432"/>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170432"/>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L1</a:t>
            </a:r>
          </a:p>
        </p:txBody>
      </p:sp>
      <p:sp>
        <p:nvSpPr>
          <p:cNvPr id="9" name="TextBox 8"/>
          <p:cNvSpPr txBox="1"/>
          <p:nvPr/>
        </p:nvSpPr>
        <p:spPr>
          <a:xfrm>
            <a:off x="1508760" y="1170432"/>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CI / CD &amp; Triggers</a:t>
            </a:r>
          </a:p>
        </p:txBody>
      </p:sp>
      <p:sp>
        <p:nvSpPr>
          <p:cNvPr id="10" name="TextBox 9"/>
          <p:cNvSpPr txBox="1"/>
          <p:nvPr/>
        </p:nvSpPr>
        <p:spPr>
          <a:xfrm>
            <a:off x="4937760" y="1170432"/>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GitHub Actions — push, cron, manual, external dispatch</a:t>
            </a:r>
          </a:p>
        </p:txBody>
      </p:sp>
      <p:sp>
        <p:nvSpPr>
          <p:cNvPr id="11" name="Rounded Rectangle 10"/>
          <p:cNvSpPr/>
          <p:nvPr/>
        </p:nvSpPr>
        <p:spPr>
          <a:xfrm>
            <a:off x="548640" y="1796796"/>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1796796"/>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L2</a:t>
            </a:r>
          </a:p>
        </p:txBody>
      </p:sp>
      <p:sp>
        <p:nvSpPr>
          <p:cNvPr id="13" name="TextBox 12"/>
          <p:cNvSpPr txBox="1"/>
          <p:nvPr/>
        </p:nvSpPr>
        <p:spPr>
          <a:xfrm>
            <a:off x="1508760" y="1796796"/>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Configuration</a:t>
            </a:r>
          </a:p>
        </p:txBody>
      </p:sp>
      <p:sp>
        <p:nvSpPr>
          <p:cNvPr id="14" name="TextBox 13"/>
          <p:cNvSpPr txBox="1"/>
          <p:nvPr/>
        </p:nvSpPr>
        <p:spPr>
          <a:xfrm>
            <a:off x="4937760" y="1796796"/>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playwright.config.ts  ·  envLoader  ·  env.local / dev / qa</a:t>
            </a:r>
          </a:p>
        </p:txBody>
      </p:sp>
      <p:sp>
        <p:nvSpPr>
          <p:cNvPr id="15" name="Rounded Rectangle 14"/>
          <p:cNvSpPr/>
          <p:nvPr/>
        </p:nvSpPr>
        <p:spPr>
          <a:xfrm>
            <a:off x="548640" y="2423160"/>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2423160"/>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L3</a:t>
            </a:r>
          </a:p>
        </p:txBody>
      </p:sp>
      <p:sp>
        <p:nvSpPr>
          <p:cNvPr id="17" name="TextBox 16"/>
          <p:cNvSpPr txBox="1"/>
          <p:nvPr/>
        </p:nvSpPr>
        <p:spPr>
          <a:xfrm>
            <a:off x="1508760" y="2423160"/>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Global Lifecycle</a:t>
            </a:r>
          </a:p>
        </p:txBody>
      </p:sp>
      <p:sp>
        <p:nvSpPr>
          <p:cNvPr id="18" name="TextBox 17"/>
          <p:cNvSpPr txBox="1"/>
          <p:nvPr/>
        </p:nvSpPr>
        <p:spPr>
          <a:xfrm>
            <a:off x="4937760" y="2423160"/>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global-setup (auth dir, results)  ·  global-teardown</a:t>
            </a:r>
          </a:p>
        </p:txBody>
      </p:sp>
      <p:sp>
        <p:nvSpPr>
          <p:cNvPr id="19" name="Rounded Rectangle 18"/>
          <p:cNvSpPr/>
          <p:nvPr/>
        </p:nvSpPr>
        <p:spPr>
          <a:xfrm>
            <a:off x="548640" y="3049524"/>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3049524"/>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L4</a:t>
            </a:r>
          </a:p>
        </p:txBody>
      </p:sp>
      <p:sp>
        <p:nvSpPr>
          <p:cNvPr id="21" name="TextBox 20"/>
          <p:cNvSpPr txBox="1"/>
          <p:nvPr/>
        </p:nvSpPr>
        <p:spPr>
          <a:xfrm>
            <a:off x="1508760" y="3049524"/>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Fixtures &amp; Hooks</a:t>
            </a:r>
          </a:p>
        </p:txBody>
      </p:sp>
      <p:sp>
        <p:nvSpPr>
          <p:cNvPr id="22" name="TextBox 21"/>
          <p:cNvSpPr txBox="1"/>
          <p:nvPr/>
        </p:nvSpPr>
        <p:spPr>
          <a:xfrm>
            <a:off x="4937760" y="3049524"/>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base.fixture / api.fixture  ·  beforeEach / afterEach  ·  lifecycle manager</a:t>
            </a:r>
          </a:p>
        </p:txBody>
      </p:sp>
      <p:sp>
        <p:nvSpPr>
          <p:cNvPr id="23" name="Rounded Rectangle 22"/>
          <p:cNvSpPr/>
          <p:nvPr/>
        </p:nvSpPr>
        <p:spPr>
          <a:xfrm>
            <a:off x="548640" y="3675888"/>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3675888"/>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L5</a:t>
            </a:r>
          </a:p>
        </p:txBody>
      </p:sp>
      <p:sp>
        <p:nvSpPr>
          <p:cNvPr id="25" name="TextBox 24"/>
          <p:cNvSpPr txBox="1"/>
          <p:nvPr/>
        </p:nvSpPr>
        <p:spPr>
          <a:xfrm>
            <a:off x="1508760" y="3675888"/>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Page Objects &amp; Components</a:t>
            </a:r>
          </a:p>
        </p:txBody>
      </p:sp>
      <p:sp>
        <p:nvSpPr>
          <p:cNvPr id="26" name="TextBox 25"/>
          <p:cNvSpPr txBox="1"/>
          <p:nvPr/>
        </p:nvSpPr>
        <p:spPr>
          <a:xfrm>
            <a:off x="4937760" y="3675888"/>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BasePage  ·  BaseComponent  ·  Navigation / Modal / Form</a:t>
            </a:r>
          </a:p>
        </p:txBody>
      </p:sp>
      <p:sp>
        <p:nvSpPr>
          <p:cNvPr id="27" name="Rounded Rectangle 26"/>
          <p:cNvSpPr/>
          <p:nvPr/>
        </p:nvSpPr>
        <p:spPr>
          <a:xfrm>
            <a:off x="548640" y="4302252"/>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4302252"/>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L6</a:t>
            </a:r>
          </a:p>
        </p:txBody>
      </p:sp>
      <p:sp>
        <p:nvSpPr>
          <p:cNvPr id="29" name="TextBox 28"/>
          <p:cNvSpPr txBox="1"/>
          <p:nvPr/>
        </p:nvSpPr>
        <p:spPr>
          <a:xfrm>
            <a:off x="1508760" y="4302252"/>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Data Layer</a:t>
            </a:r>
          </a:p>
        </p:txBody>
      </p:sp>
      <p:sp>
        <p:nvSpPr>
          <p:cNvPr id="30" name="TextBox 29"/>
          <p:cNvSpPr txBox="1"/>
          <p:nvPr/>
        </p:nvSpPr>
        <p:spPr>
          <a:xfrm>
            <a:off x="4937760" y="4302252"/>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DataProvider  ·  JSON / CSV readers (read directly, no conversion)</a:t>
            </a:r>
          </a:p>
        </p:txBody>
      </p:sp>
      <p:sp>
        <p:nvSpPr>
          <p:cNvPr id="31" name="Rounded Rectangle 30"/>
          <p:cNvSpPr/>
          <p:nvPr/>
        </p:nvSpPr>
        <p:spPr>
          <a:xfrm>
            <a:off x="548640" y="4928616"/>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48640" y="4928616"/>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L7</a:t>
            </a:r>
          </a:p>
        </p:txBody>
      </p:sp>
      <p:sp>
        <p:nvSpPr>
          <p:cNvPr id="33" name="TextBox 32"/>
          <p:cNvSpPr txBox="1"/>
          <p:nvPr/>
        </p:nvSpPr>
        <p:spPr>
          <a:xfrm>
            <a:off x="1508760" y="4928616"/>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Authentication &amp; API</a:t>
            </a:r>
          </a:p>
        </p:txBody>
      </p:sp>
      <p:sp>
        <p:nvSpPr>
          <p:cNvPr id="34" name="TextBox 33"/>
          <p:cNvSpPr txBox="1"/>
          <p:nvPr/>
        </p:nvSpPr>
        <p:spPr>
          <a:xfrm>
            <a:off x="4937760" y="4928616"/>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AuthorizationManager  ·  RequestBuilder  ·  AuthContextFactory</a:t>
            </a:r>
          </a:p>
        </p:txBody>
      </p:sp>
      <p:sp>
        <p:nvSpPr>
          <p:cNvPr id="35" name="Rounded Rectangle 34"/>
          <p:cNvSpPr/>
          <p:nvPr/>
        </p:nvSpPr>
        <p:spPr>
          <a:xfrm>
            <a:off x="548640" y="5554980"/>
            <a:ext cx="11094415" cy="576072"/>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8640" y="5554980"/>
            <a:ext cx="777240" cy="576072"/>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400" b="1" i="0">
                <a:solidFill>
                  <a:srgbClr val="FFFFFF"/>
                </a:solidFill>
                <a:latin typeface="Segoe UI"/>
              </a:rPr>
              <a:t>L8</a:t>
            </a:r>
          </a:p>
        </p:txBody>
      </p:sp>
      <p:sp>
        <p:nvSpPr>
          <p:cNvPr id="37" name="TextBox 36"/>
          <p:cNvSpPr txBox="1"/>
          <p:nvPr/>
        </p:nvSpPr>
        <p:spPr>
          <a:xfrm>
            <a:off x="1508760" y="5554980"/>
            <a:ext cx="3291840" cy="576072"/>
          </a:xfrm>
          <a:prstGeom prst="rect">
            <a:avLst/>
          </a:prstGeom>
          <a:noFill/>
        </p:spPr>
        <p:txBody>
          <a:bodyPr wrap="square" anchor="ctr" lIns="0" rIns="0" tIns="0" bIns="0">
            <a:spAutoFit/>
          </a:bodyPr>
          <a:lstStyle/>
          <a:p>
            <a:pPr algn="l">
              <a:spcBef>
                <a:spcPts val="0"/>
              </a:spcBef>
              <a:spcAft>
                <a:spcPts val="0"/>
              </a:spcAft>
            </a:pPr>
            <a:r>
              <a:rPr sz="1400" b="1" i="0">
                <a:solidFill>
                  <a:srgbClr val="0F2D4A"/>
                </a:solidFill>
                <a:latin typeface="Segoe UI"/>
              </a:rPr>
              <a:t>Reporting &amp; Utilities</a:t>
            </a:r>
          </a:p>
        </p:txBody>
      </p:sp>
      <p:sp>
        <p:nvSpPr>
          <p:cNvPr id="38" name="TextBox 37"/>
          <p:cNvSpPr txBox="1"/>
          <p:nvPr/>
        </p:nvSpPr>
        <p:spPr>
          <a:xfrm>
            <a:off x="4937760" y="5554980"/>
            <a:ext cx="6583680" cy="576072"/>
          </a:xfrm>
          <a:prstGeom prst="rect">
            <a:avLst/>
          </a:prstGeom>
          <a:noFill/>
        </p:spPr>
        <p:txBody>
          <a:bodyPr wrap="square" anchor="ctr" lIns="0" rIns="0" tIns="0" bIns="0">
            <a:spAutoFit/>
          </a:bodyPr>
          <a:lstStyle/>
          <a:p>
            <a:pPr algn="l">
              <a:spcBef>
                <a:spcPts val="0"/>
              </a:spcBef>
              <a:spcAft>
                <a:spcPts val="0"/>
              </a:spcAft>
            </a:pPr>
            <a:r>
              <a:rPr sz="1150" b="0" i="0">
                <a:solidFill>
                  <a:srgbClr val="5B6472"/>
                </a:solidFill>
                <a:latin typeface="Segoe UI"/>
              </a:rPr>
              <a:t>HTML · Allure · Email · Slack · ELK  ·  Logger · network helpers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src/</a:t>
            </a:r>
          </a:p>
          <a:p>
            <a:pPr algn="l">
              <a:spcBef>
                <a:spcPts val="0"/>
              </a:spcBef>
              <a:spcAft>
                <a:spcPts val="0"/>
              </a:spcAft>
            </a:pPr>
            <a:r>
              <a:rPr sz="2400" b="1" i="0">
                <a:solidFill>
                  <a:srgbClr val="FFFFFF"/>
                </a:solidFill>
                <a:latin typeface="Segoe UI"/>
              </a:rPr>
              <a:t>Project Structure</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6</a:t>
            </a:r>
          </a:p>
        </p:txBody>
      </p:sp>
      <p:sp>
        <p:nvSpPr>
          <p:cNvPr id="7" name="Rounded Rectangle 6"/>
          <p:cNvSpPr/>
          <p:nvPr/>
        </p:nvSpPr>
        <p:spPr>
          <a:xfrm>
            <a:off x="548640" y="123444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core/   </a:t>
            </a:r>
            <a:r>
              <a:rPr sz="1100" b="0" i="0">
                <a:solidFill>
                  <a:srgbClr val="5B6472"/>
                </a:solidFill>
                <a:latin typeface="Segoe UI"/>
              </a:rPr>
              <a:t>Framework primitives — constants, exceptions, @HandleError decorator</a:t>
            </a:r>
          </a:p>
        </p:txBody>
      </p:sp>
      <p:sp>
        <p:nvSpPr>
          <p:cNvPr id="8" name="Rounded Rectangle 7"/>
          <p:cNvSpPr/>
          <p:nvPr/>
        </p:nvSpPr>
        <p:spPr>
          <a:xfrm>
            <a:off x="6172200" y="123444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config/   </a:t>
            </a:r>
            <a:r>
              <a:rPr sz="1100" b="0" i="0">
                <a:solidFill>
                  <a:srgbClr val="5B6472"/>
                </a:solidFill>
                <a:latin typeface="Segoe UI"/>
              </a:rPr>
              <a:t>Env loading, environment definitions, data-source resolution</a:t>
            </a:r>
          </a:p>
        </p:txBody>
      </p:sp>
      <p:sp>
        <p:nvSpPr>
          <p:cNvPr id="9" name="Rounded Rectangle 8"/>
          <p:cNvSpPr/>
          <p:nvPr/>
        </p:nvSpPr>
        <p:spPr>
          <a:xfrm>
            <a:off x="548640" y="178308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auth/   </a:t>
            </a:r>
            <a:r>
              <a:rPr sz="1100" b="0" i="0">
                <a:solidFill>
                  <a:srgbClr val="5B6472"/>
                </a:solidFill>
                <a:latin typeface="Segoe UI"/>
              </a:rPr>
              <a:t>OAuth2 / Basic / API-Key request auth + 401/403 retry</a:t>
            </a:r>
          </a:p>
        </p:txBody>
      </p:sp>
      <p:sp>
        <p:nvSpPr>
          <p:cNvPr id="10" name="Rounded Rectangle 9"/>
          <p:cNvSpPr/>
          <p:nvPr/>
        </p:nvSpPr>
        <p:spPr>
          <a:xfrm>
            <a:off x="6172200" y="178308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components/   </a:t>
            </a:r>
            <a:r>
              <a:rPr sz="1100" b="0" i="0">
                <a:solidFill>
                  <a:srgbClr val="5B6472"/>
                </a:solidFill>
                <a:latin typeface="Segoe UI"/>
              </a:rPr>
              <a:t>BaseComponent + Navigation / Modal / Form (root-scoped)</a:t>
            </a:r>
          </a:p>
        </p:txBody>
      </p:sp>
      <p:sp>
        <p:nvSpPr>
          <p:cNvPr id="11" name="Rounded Rectangle 10"/>
          <p:cNvSpPr/>
          <p:nvPr/>
        </p:nvSpPr>
        <p:spPr>
          <a:xfrm>
            <a:off x="548640" y="233172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context/   </a:t>
            </a:r>
            <a:r>
              <a:rPr sz="1100" b="0" i="0">
                <a:solidFill>
                  <a:srgbClr val="5B6472"/>
                </a:solidFill>
                <a:latin typeface="Segoe UI"/>
              </a:rPr>
              <a:t>executionContext (runId/branch/commit) · testMetrics · testRunContext</a:t>
            </a:r>
          </a:p>
        </p:txBody>
      </p:sp>
      <p:sp>
        <p:nvSpPr>
          <p:cNvPr id="12" name="Rounded Rectangle 11"/>
          <p:cNvSpPr/>
          <p:nvPr/>
        </p:nvSpPr>
        <p:spPr>
          <a:xfrm>
            <a:off x="6172200" y="233172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data/   </a:t>
            </a:r>
            <a:r>
              <a:rPr sz="1100" b="0" i="0">
                <a:solidFill>
                  <a:srgbClr val="5B6472"/>
                </a:solidFill>
                <a:latin typeface="Segoe UI"/>
              </a:rPr>
              <a:t>runnerManager.json / .csv · module data · optional runnerList filter</a:t>
            </a:r>
          </a:p>
        </p:txBody>
      </p:sp>
      <p:sp>
        <p:nvSpPr>
          <p:cNvPr id="13" name="Rounded Rectangle 12"/>
          <p:cNvSpPr/>
          <p:nvPr/>
        </p:nvSpPr>
        <p:spPr>
          <a:xfrm>
            <a:off x="548640" y="288036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fixtures/   </a:t>
            </a:r>
            <a:r>
              <a:rPr sz="1100" b="0" i="0">
                <a:solidFill>
                  <a:srgbClr val="5B6472"/>
                </a:solidFill>
                <a:latin typeface="Segoe UI"/>
              </a:rPr>
              <a:t>base.fixture (UI) · api.fixture · global setup / teardown</a:t>
            </a:r>
          </a:p>
        </p:txBody>
      </p:sp>
      <p:sp>
        <p:nvSpPr>
          <p:cNvPr id="14" name="Rounded Rectangle 13"/>
          <p:cNvSpPr/>
          <p:nvPr/>
        </p:nvSpPr>
        <p:spPr>
          <a:xfrm>
            <a:off x="6172200" y="288036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pages/   </a:t>
            </a:r>
            <a:r>
              <a:rPr sz="1100" b="0" i="0">
                <a:solidFill>
                  <a:srgbClr val="5B6472"/>
                </a:solidFill>
                <a:latin typeface="Segoe UI"/>
              </a:rPr>
              <a:t>BasePage + LoginPage / LeftNavigationPage</a:t>
            </a:r>
          </a:p>
        </p:txBody>
      </p:sp>
      <p:sp>
        <p:nvSpPr>
          <p:cNvPr id="15" name="Rounded Rectangle 14"/>
          <p:cNvSpPr/>
          <p:nvPr/>
        </p:nvSpPr>
        <p:spPr>
          <a:xfrm>
            <a:off x="548640" y="342900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reporting/   </a:t>
            </a:r>
            <a:r>
              <a:rPr sz="1100" b="0" i="0">
                <a:solidFill>
                  <a:srgbClr val="5B6472"/>
                </a:solidFill>
                <a:latin typeface="Segoe UI"/>
              </a:rPr>
              <a:t>email · slack · dashboard (ELK) · shared runSummary</a:t>
            </a:r>
          </a:p>
        </p:txBody>
      </p:sp>
      <p:sp>
        <p:nvSpPr>
          <p:cNvPr id="16" name="Rounded Rectangle 15"/>
          <p:cNvSpPr/>
          <p:nvPr/>
        </p:nvSpPr>
        <p:spPr>
          <a:xfrm>
            <a:off x="6172200" y="3429000"/>
            <a:ext cx="5486400" cy="475488"/>
          </a:xfrm>
          <a:prstGeom prst="roundRect">
            <a:avLst/>
          </a:prstGeom>
          <a:solidFill>
            <a:srgbClr val="F7F9FB"/>
          </a:solidFill>
          <a:ln w="635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128016" tIns="0" bIns="0"/>
          <a:lstStyle/>
          <a:p>
            <a:pPr algn="ctr"/>
            <a:r>
              <a:rPr sz="1300" b="1" i="0">
                <a:solidFill>
                  <a:srgbClr val="2BB2A6"/>
                </a:solidFill>
                <a:latin typeface="Segoe UI"/>
              </a:rPr>
              <a:t>utils/   </a:t>
            </a:r>
            <a:r>
              <a:rPr sz="1100" b="0" i="0">
                <a:solidFill>
                  <a:srgbClr val="5B6472"/>
                </a:solidFill>
                <a:latin typeface="Segoe UI"/>
              </a:rPr>
              <a:t>DataProvider · logger · allureHelper · network · assertions · dataReaders/</a:t>
            </a:r>
          </a:p>
        </p:txBody>
      </p:sp>
      <p:sp>
        <p:nvSpPr>
          <p:cNvPr id="17" name="TextBox 16"/>
          <p:cNvSpPr txBox="1"/>
          <p:nvPr/>
        </p:nvSpPr>
        <p:spPr>
          <a:xfrm>
            <a:off x="548640" y="5989320"/>
            <a:ext cx="11094415" cy="457200"/>
          </a:xfrm>
          <a:prstGeom prst="rect">
            <a:avLst/>
          </a:prstGeom>
          <a:noFill/>
        </p:spPr>
        <p:txBody>
          <a:bodyPr wrap="square" anchor="t" lIns="0" rIns="0" tIns="0" bIns="0">
            <a:spAutoFit/>
          </a:bodyPr>
          <a:lstStyle/>
          <a:p>
            <a:pPr algn="l">
              <a:spcBef>
                <a:spcPts val="0"/>
              </a:spcBef>
              <a:spcAft>
                <a:spcPts val="600"/>
              </a:spcAft>
            </a:pPr>
            <a:r>
              <a:rPr sz="1200" b="1" i="0">
                <a:solidFill>
                  <a:srgbClr val="1F2937"/>
                </a:solidFill>
                <a:latin typeface="Segoe UI"/>
              </a:rPr>
              <a:t>tests/  — auth.setup.ts (storageState login)  ·  login/  ·  spec files (**/*.spec.ts)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THE FRAMEWORK</a:t>
            </a:r>
          </a:p>
          <a:p>
            <a:pPr algn="l">
              <a:spcBef>
                <a:spcPts val="0"/>
              </a:spcBef>
              <a:spcAft>
                <a:spcPts val="0"/>
              </a:spcAft>
            </a:pPr>
            <a:r>
              <a:rPr sz="2400" b="1" i="0">
                <a:solidFill>
                  <a:srgbClr val="FFFFFF"/>
                </a:solidFill>
                <a:latin typeface="Segoe UI"/>
              </a:rPr>
              <a:t>Core Capabilities  (1 / 2)</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7</a:t>
            </a:r>
          </a:p>
        </p:txBody>
      </p:sp>
      <p:sp>
        <p:nvSpPr>
          <p:cNvPr id="7" name="Rounded Rectangle 6"/>
          <p:cNvSpPr/>
          <p:nvPr/>
        </p:nvSpPr>
        <p:spPr>
          <a:xfrm>
            <a:off x="548640" y="1234440"/>
            <a:ext cx="5440680" cy="233172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34440"/>
            <a:ext cx="82296" cy="233172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380744"/>
            <a:ext cx="5056632" cy="205740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Page Object Model &amp; Components</a:t>
            </a:r>
          </a:p>
          <a:p>
            <a:pPr algn="l">
              <a:spcBef>
                <a:spcPts val="0"/>
              </a:spcBef>
              <a:spcAft>
                <a:spcPts val="300"/>
              </a:spcAft>
            </a:pPr>
            <a:r>
              <a:rPr sz="1150" b="0" i="0">
                <a:solidFill>
                  <a:srgbClr val="5B6472"/>
                </a:solidFill>
                <a:latin typeface="Segoe UI"/>
              </a:rPr>
              <a:t>BasePage — thin: navigate(), waitForCondition(), screenshot convention.</a:t>
            </a:r>
          </a:p>
          <a:p>
            <a:pPr algn="l">
              <a:spcBef>
                <a:spcPts val="0"/>
              </a:spcBef>
              <a:spcAft>
                <a:spcPts val="300"/>
              </a:spcAft>
            </a:pPr>
            <a:r>
              <a:rPr sz="1150" b="0" i="0">
                <a:solidFill>
                  <a:srgbClr val="5B6472"/>
                </a:solidFill>
                <a:latin typeface="Segoe UI"/>
              </a:rPr>
              <a:t>Actions/assertions use native Locator + expect() directly (no wrappers).</a:t>
            </a:r>
          </a:p>
          <a:p>
            <a:pPr algn="l">
              <a:spcBef>
                <a:spcPts val="0"/>
              </a:spcBef>
              <a:spcAft>
                <a:spcPts val="300"/>
              </a:spcAft>
            </a:pPr>
            <a:r>
              <a:rPr sz="1150" b="0" i="0">
                <a:solidFill>
                  <a:srgbClr val="5B6472"/>
                </a:solidFill>
                <a:latin typeface="Segoe UI"/>
              </a:rPr>
              <a:t>BaseComponent — root-scoped locator finders; Navigation / Modal / Form.</a:t>
            </a:r>
          </a:p>
          <a:p>
            <a:pPr algn="l">
              <a:spcBef>
                <a:spcPts val="0"/>
              </a:spcBef>
              <a:spcAft>
                <a:spcPts val="300"/>
              </a:spcAft>
            </a:pPr>
            <a:r>
              <a:rPr sz="1150" b="0" i="0">
                <a:solidFill>
                  <a:srgbClr val="5B6472"/>
                </a:solidFill>
                <a:latin typeface="Segoe UI"/>
              </a:rPr>
              <a:t>Prevents selector collisions; pages stay small and readable.</a:t>
            </a:r>
          </a:p>
        </p:txBody>
      </p:sp>
      <p:sp>
        <p:nvSpPr>
          <p:cNvPr id="10" name="Rounded Rectangle 9"/>
          <p:cNvSpPr/>
          <p:nvPr/>
        </p:nvSpPr>
        <p:spPr>
          <a:xfrm>
            <a:off x="6172200" y="1234440"/>
            <a:ext cx="5440680" cy="233172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234440"/>
            <a:ext cx="82296" cy="2331720"/>
          </a:xfrm>
          <a:prstGeom prst="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380744"/>
            <a:ext cx="5056632" cy="205740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Data-Driven Testing</a:t>
            </a:r>
          </a:p>
          <a:p>
            <a:pPr algn="l">
              <a:spcBef>
                <a:spcPts val="0"/>
              </a:spcBef>
              <a:spcAft>
                <a:spcPts val="300"/>
              </a:spcAft>
            </a:pPr>
            <a:r>
              <a:rPr sz="1150" b="0" i="0">
                <a:solidFill>
                  <a:srgbClr val="5B6472"/>
                </a:solidFill>
                <a:latin typeface="Segoe UI"/>
              </a:rPr>
              <a:t>Reads JSON or CSV directly — no conversion / preprocessing step.</a:t>
            </a:r>
          </a:p>
          <a:p>
            <a:pPr algn="l">
              <a:spcBef>
                <a:spcPts val="0"/>
              </a:spcBef>
              <a:spcAft>
                <a:spcPts val="300"/>
              </a:spcAft>
            </a:pPr>
            <a:r>
              <a:rPr sz="1150" b="0" i="0">
                <a:solidFill>
                  <a:srgbClr val="5B6472"/>
                </a:solidFill>
                <a:latin typeface="Segoe UI"/>
              </a:rPr>
              <a:t>DataProvider singleton + JSON/CSV readers behind one interface.</a:t>
            </a:r>
          </a:p>
          <a:p>
            <a:pPr algn="l">
              <a:spcBef>
                <a:spcPts val="0"/>
              </a:spcBef>
              <a:spcAft>
                <a:spcPts val="300"/>
              </a:spcAft>
            </a:pPr>
            <a:r>
              <a:rPr sz="1150" b="0" i="0">
                <a:solidFill>
                  <a:srgbClr val="5B6472"/>
                </a:solidFill>
                <a:latin typeface="Segoe UI"/>
              </a:rPr>
              <a:t>testCaseId / testCaseName fixtures auto-load &amp; validate a row.</a:t>
            </a:r>
          </a:p>
          <a:p>
            <a:pPr algn="l">
              <a:spcBef>
                <a:spcPts val="0"/>
              </a:spcBef>
              <a:spcAft>
                <a:spcPts val="300"/>
              </a:spcAft>
            </a:pPr>
            <a:r>
              <a:rPr sz="1150" b="0" i="0">
                <a:solidFill>
                  <a:srgbClr val="5B6472"/>
                </a:solidFill>
                <a:latin typeface="Segoe UI"/>
              </a:rPr>
              <a:t>Disabled rows (enabled:false) auto-skip.</a:t>
            </a:r>
          </a:p>
        </p:txBody>
      </p:sp>
      <p:sp>
        <p:nvSpPr>
          <p:cNvPr id="13" name="Rounded Rectangle 12"/>
          <p:cNvSpPr/>
          <p:nvPr/>
        </p:nvSpPr>
        <p:spPr>
          <a:xfrm>
            <a:off x="548640" y="3840480"/>
            <a:ext cx="11094415" cy="1554480"/>
          </a:xfrm>
          <a:prstGeom prst="roundRect">
            <a:avLst/>
          </a:prstGeom>
          <a:solidFill>
            <a:srgbClr val="F3F6F9"/>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023360"/>
            <a:ext cx="10545775" cy="1280160"/>
          </a:xfrm>
          <a:prstGeom prst="rect">
            <a:avLst/>
          </a:prstGeom>
          <a:noFill/>
        </p:spPr>
        <p:txBody>
          <a:bodyPr wrap="square" anchor="t" lIns="0" rIns="0" tIns="0" bIns="0">
            <a:spAutoFit/>
          </a:bodyPr>
          <a:lstStyle/>
          <a:p>
            <a:pPr algn="l">
              <a:spcBef>
                <a:spcPts val="0"/>
              </a:spcBef>
              <a:spcAft>
                <a:spcPts val="400"/>
              </a:spcAft>
            </a:pPr>
            <a:r>
              <a:rPr sz="1300" b="1" i="0">
                <a:solidFill>
                  <a:srgbClr val="2BB2A6"/>
                </a:solidFill>
                <a:latin typeface="Segoe UI"/>
              </a:rPr>
              <a:t>Why it matters</a:t>
            </a:r>
          </a:p>
          <a:p>
            <a:pPr algn="l">
              <a:spcBef>
                <a:spcPts val="0"/>
              </a:spcBef>
              <a:spcAft>
                <a:spcPts val="600"/>
              </a:spcAft>
            </a:pPr>
            <a:r>
              <a:rPr sz="1300" b="0" i="0">
                <a:solidFill>
                  <a:srgbClr val="5B6472"/>
                </a:solidFill>
                <a:latin typeface="Segoe UI"/>
              </a:rPr>
              <a:t>New pages plug into a proven base; new scenarios are added as data rows, not new code. This is how the suite scales without the page layer ballooning.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THE FRAMEWORK</a:t>
            </a:r>
          </a:p>
          <a:p>
            <a:pPr algn="l">
              <a:spcBef>
                <a:spcPts val="0"/>
              </a:spcBef>
              <a:spcAft>
                <a:spcPts val="0"/>
              </a:spcAft>
            </a:pPr>
            <a:r>
              <a:rPr sz="2400" b="1" i="0">
                <a:solidFill>
                  <a:srgbClr val="FFFFFF"/>
                </a:solidFill>
                <a:latin typeface="Segoe UI"/>
              </a:rPr>
              <a:t>Core Capabilities  (2 / 2)</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8</a:t>
            </a:r>
          </a:p>
        </p:txBody>
      </p:sp>
      <p:sp>
        <p:nvSpPr>
          <p:cNvPr id="7" name="Rounded Rectangle 6"/>
          <p:cNvSpPr/>
          <p:nvPr/>
        </p:nvSpPr>
        <p:spPr>
          <a:xfrm>
            <a:off x="548640" y="1234440"/>
            <a:ext cx="3502152" cy="24688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34440"/>
            <a:ext cx="82296" cy="246888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380744"/>
            <a:ext cx="3118104" cy="219456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Fixtures &amp; Lifecycle</a:t>
            </a:r>
          </a:p>
          <a:p>
            <a:pPr algn="l">
              <a:spcBef>
                <a:spcPts val="0"/>
              </a:spcBef>
              <a:spcAft>
                <a:spcPts val="300"/>
              </a:spcAft>
            </a:pPr>
            <a:r>
              <a:rPr sz="1150" b="0" i="0">
                <a:solidFill>
                  <a:srgbClr val="5B6472"/>
                </a:solidFill>
                <a:latin typeface="Segoe UI"/>
              </a:rPr>
              <a:t>base.fixture (UI) &amp; api.fixture (API-only).</a:t>
            </a:r>
          </a:p>
          <a:p>
            <a:pPr algn="l">
              <a:spcBef>
                <a:spcPts val="0"/>
              </a:spcBef>
              <a:spcAft>
                <a:spcPts val="300"/>
              </a:spcAft>
            </a:pPr>
            <a:r>
              <a:rPr sz="1150" b="0" i="0">
                <a:solidFill>
                  <a:srgbClr val="5B6472"/>
                </a:solidFill>
                <a:latin typeface="Segoe UI"/>
              </a:rPr>
              <a:t>beforeEach/afterEach → lifecycle manager.</a:t>
            </a:r>
          </a:p>
          <a:p>
            <a:pPr algn="l">
              <a:spcBef>
                <a:spcPts val="0"/>
              </a:spcBef>
              <a:spcAft>
                <a:spcPts val="300"/>
              </a:spcAft>
            </a:pPr>
            <a:r>
              <a:rPr sz="1150" b="0" i="0">
                <a:solidFill>
                  <a:srgbClr val="5B6472"/>
                </a:solidFill>
                <a:latin typeface="Segoe UI"/>
              </a:rPr>
              <a:t>TestMetrics per test (status, duration, retry).</a:t>
            </a:r>
          </a:p>
          <a:p>
            <a:pPr algn="l">
              <a:spcBef>
                <a:spcPts val="0"/>
              </a:spcBef>
              <a:spcAft>
                <a:spcPts val="300"/>
              </a:spcAft>
            </a:pPr>
            <a:r>
              <a:rPr sz="1150" b="0" i="0">
                <a:solidFill>
                  <a:srgbClr val="5B6472"/>
                </a:solidFill>
                <a:latin typeface="Segoe UI"/>
              </a:rPr>
              <a:t>ExecutionContext: runId, branch, commit, trigger.</a:t>
            </a:r>
          </a:p>
        </p:txBody>
      </p:sp>
      <p:sp>
        <p:nvSpPr>
          <p:cNvPr id="10" name="Rounded Rectangle 9"/>
          <p:cNvSpPr/>
          <p:nvPr/>
        </p:nvSpPr>
        <p:spPr>
          <a:xfrm>
            <a:off x="4251960" y="1234440"/>
            <a:ext cx="3502152" cy="24688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234440"/>
            <a:ext cx="82296" cy="2468880"/>
          </a:xfrm>
          <a:prstGeom prst="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380744"/>
            <a:ext cx="3118104" cy="219456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API Testing &amp; Auth</a:t>
            </a:r>
          </a:p>
          <a:p>
            <a:pPr algn="l">
              <a:spcBef>
                <a:spcPts val="0"/>
              </a:spcBef>
              <a:spcAft>
                <a:spcPts val="300"/>
              </a:spcAft>
            </a:pPr>
            <a:r>
              <a:rPr sz="1150" b="0" i="0">
                <a:solidFill>
                  <a:srgbClr val="5B6472"/>
                </a:solidFill>
                <a:latin typeface="Segoe UI"/>
              </a:rPr>
              <a:t>Strategies: OAuth2, Basic, API-Key, none.</a:t>
            </a:r>
          </a:p>
          <a:p>
            <a:pPr algn="l">
              <a:spcBef>
                <a:spcPts val="0"/>
              </a:spcBef>
              <a:spcAft>
                <a:spcPts val="300"/>
              </a:spcAft>
            </a:pPr>
            <a:r>
              <a:rPr sz="1150" b="0" i="0">
                <a:solidFill>
                  <a:srgbClr val="5B6472"/>
                </a:solidFill>
                <a:latin typeface="Segoe UI"/>
              </a:rPr>
              <a:t>OAuth2 token cache + auto-refresh.</a:t>
            </a:r>
          </a:p>
          <a:p>
            <a:pPr algn="l">
              <a:spcBef>
                <a:spcPts val="0"/>
              </a:spcBef>
              <a:spcAft>
                <a:spcPts val="300"/>
              </a:spcAft>
            </a:pPr>
            <a:r>
              <a:rPr sz="1150" b="0" i="0">
                <a:solidFill>
                  <a:srgbClr val="5B6472"/>
                </a:solidFill>
                <a:latin typeface="Segoe UI"/>
              </a:rPr>
              <a:t>executeWithAuthRetry — retry once on 401/403.</a:t>
            </a:r>
          </a:p>
          <a:p>
            <a:pPr algn="l">
              <a:spcBef>
                <a:spcPts val="0"/>
              </a:spcBef>
              <a:spcAft>
                <a:spcPts val="300"/>
              </a:spcAft>
            </a:pPr>
            <a:r>
              <a:rPr sz="1150" b="0" i="0">
                <a:solidFill>
                  <a:srgbClr val="5B6472"/>
                </a:solidFill>
                <a:latin typeface="Segoe UI"/>
              </a:rPr>
              <a:t>authContextFactory builds the request context.</a:t>
            </a:r>
          </a:p>
        </p:txBody>
      </p:sp>
      <p:sp>
        <p:nvSpPr>
          <p:cNvPr id="13" name="Rounded Rectangle 12"/>
          <p:cNvSpPr/>
          <p:nvPr/>
        </p:nvSpPr>
        <p:spPr>
          <a:xfrm>
            <a:off x="7955280" y="1234440"/>
            <a:ext cx="3502152" cy="24688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234440"/>
            <a:ext cx="82296" cy="246888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380744"/>
            <a:ext cx="3118104" cy="219456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Logging &amp; Observability</a:t>
            </a:r>
          </a:p>
          <a:p>
            <a:pPr algn="l">
              <a:spcBef>
                <a:spcPts val="0"/>
              </a:spcBef>
              <a:spcAft>
                <a:spcPts val="300"/>
              </a:spcAft>
            </a:pPr>
            <a:r>
              <a:rPr sz="1150" b="0" i="0">
                <a:solidFill>
                  <a:srgbClr val="5B6472"/>
                </a:solidFill>
                <a:latin typeface="Segoe UI"/>
              </a:rPr>
              <a:t>Structured Logger — console + daily file.</a:t>
            </a:r>
          </a:p>
          <a:p>
            <a:pPr algn="l">
              <a:spcBef>
                <a:spcPts val="0"/>
              </a:spcBef>
              <a:spcAft>
                <a:spcPts val="300"/>
              </a:spcAft>
            </a:pPr>
            <a:r>
              <a:rPr sz="1150" b="0" i="0">
                <a:solidFill>
                  <a:srgbClr val="5B6472"/>
                </a:solidFill>
                <a:latin typeface="Segoe UI"/>
              </a:rPr>
              <a:t>Per-test metrics + run-level context.</a:t>
            </a:r>
          </a:p>
          <a:p>
            <a:pPr algn="l">
              <a:spcBef>
                <a:spcPts val="0"/>
              </a:spcBef>
              <a:spcAft>
                <a:spcPts val="300"/>
              </a:spcAft>
            </a:pPr>
            <a:r>
              <a:rPr sz="1150" b="0" i="0">
                <a:solidFill>
                  <a:srgbClr val="5B6472"/>
                </a:solidFill>
                <a:latin typeface="Segoe UI"/>
              </a:rPr>
              <a:t>Screenshot / video / trace on failure.</a:t>
            </a:r>
          </a:p>
          <a:p>
            <a:pPr algn="l">
              <a:spcBef>
                <a:spcPts val="0"/>
              </a:spcBef>
              <a:spcAft>
                <a:spcPts val="300"/>
              </a:spcAft>
            </a:pPr>
            <a:r>
              <a:rPr sz="1150" b="0" i="0">
                <a:solidFill>
                  <a:srgbClr val="5B6472"/>
                </a:solidFill>
                <a:latin typeface="Segoe UI"/>
              </a:rPr>
              <a:t>Feeds the reporting layer.</a:t>
            </a:r>
          </a:p>
        </p:txBody>
      </p:sp>
      <p:sp>
        <p:nvSpPr>
          <p:cNvPr id="16" name="TextBox 15"/>
          <p:cNvSpPr txBox="1"/>
          <p:nvPr/>
        </p:nvSpPr>
        <p:spPr>
          <a:xfrm>
            <a:off x="548640" y="3977639"/>
            <a:ext cx="11094415" cy="1463040"/>
          </a:xfrm>
          <a:prstGeom prst="rect">
            <a:avLst/>
          </a:prstGeom>
          <a:noFill/>
        </p:spPr>
        <p:txBody>
          <a:bodyPr wrap="square" anchor="t" lIns="0" rIns="0" tIns="0" bIns="0">
            <a:spAutoFit/>
          </a:bodyPr>
          <a:lstStyle/>
          <a:p>
            <a:pPr algn="l">
              <a:spcBef>
                <a:spcPts val="0"/>
              </a:spcBef>
              <a:spcAft>
                <a:spcPts val="400"/>
              </a:spcAft>
            </a:pPr>
            <a:r>
              <a:rPr sz="1300" b="1" i="0">
                <a:solidFill>
                  <a:srgbClr val="2BB2A6"/>
                </a:solidFill>
                <a:latin typeface="Segoe UI"/>
              </a:rPr>
              <a:t>Browser auth = saved storageState</a:t>
            </a:r>
          </a:p>
          <a:p>
            <a:pPr algn="l">
              <a:spcBef>
                <a:spcPts val="0"/>
              </a:spcBef>
              <a:spcAft>
                <a:spcPts val="600"/>
              </a:spcAft>
            </a:pPr>
            <a:r>
              <a:rPr sz="1300" b="0" i="0">
                <a:solidFill>
                  <a:srgbClr val="5B6472"/>
                </a:solidFill>
                <a:latin typeface="Segoe UI"/>
              </a:rPr>
              <a:t>A one-time auth-setup project logs in and persists the session to .auth/user.json; every browser test starts authenticated. API auth is separate and configurable per environment.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CLAUDE CODE</a:t>
            </a:r>
          </a:p>
          <a:p>
            <a:pPr algn="l">
              <a:spcBef>
                <a:spcPts val="0"/>
              </a:spcBef>
              <a:spcAft>
                <a:spcPts val="0"/>
              </a:spcAft>
            </a:pPr>
            <a:r>
              <a:rPr sz="2400" b="1" i="0">
                <a:solidFill>
                  <a:srgbClr val="FFFFFF"/>
                </a:solidFill>
                <a:latin typeface="Segoe UI"/>
              </a:rPr>
              <a:t>AI-Augmented Test Engineering</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9</a:t>
            </a:r>
          </a:p>
        </p:txBody>
      </p:sp>
      <p:sp>
        <p:nvSpPr>
          <p:cNvPr id="7" name="TextBox 6"/>
          <p:cNvSpPr txBox="1"/>
          <p:nvPr/>
        </p:nvSpPr>
        <p:spPr>
          <a:xfrm>
            <a:off x="548640" y="1024128"/>
            <a:ext cx="11094415" cy="365760"/>
          </a:xfrm>
          <a:prstGeom prst="rect">
            <a:avLst/>
          </a:prstGeom>
          <a:noFill/>
        </p:spPr>
        <p:txBody>
          <a:bodyPr wrap="square" anchor="t" lIns="0" rIns="0" tIns="0" bIns="0">
            <a:spAutoFit/>
          </a:bodyPr>
          <a:lstStyle/>
          <a:p>
            <a:pPr algn="l">
              <a:spcBef>
                <a:spcPts val="0"/>
              </a:spcBef>
              <a:spcAft>
                <a:spcPts val="600"/>
              </a:spcAft>
            </a:pPr>
            <a:r>
              <a:rPr sz="1250" b="1" i="0">
                <a:solidFill>
                  <a:srgbClr val="1F2937"/>
                </a:solidFill>
                <a:latin typeface="Segoe UI"/>
              </a:rPr>
              <a:t>Tests are authored, planned and repaired with Claude Code. Skills encode THIS framework's conventions; agents drive a real browser via MCP — so output follows the POM, fixtures and data-driven layer and runs without rework.</a:t>
            </a:r>
          </a:p>
        </p:txBody>
      </p:sp>
      <p:sp>
        <p:nvSpPr>
          <p:cNvPr id="8" name="Rounded Rectangle 7"/>
          <p:cNvSpPr/>
          <p:nvPr/>
        </p:nvSpPr>
        <p:spPr>
          <a:xfrm>
            <a:off x="548640" y="1572768"/>
            <a:ext cx="5440680" cy="306324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72768"/>
            <a:ext cx="82296" cy="306324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737360"/>
            <a:ext cx="4983480" cy="2743200"/>
          </a:xfrm>
          <a:prstGeom prst="rect">
            <a:avLst/>
          </a:prstGeom>
          <a:noFill/>
        </p:spPr>
        <p:txBody>
          <a:bodyPr wrap="square" anchor="t" lIns="0" rIns="0" tIns="0" bIns="0">
            <a:spAutoFit/>
          </a:bodyPr>
          <a:lstStyle/>
          <a:p>
            <a:pPr algn="l">
              <a:spcBef>
                <a:spcPts val="0"/>
              </a:spcBef>
              <a:spcAft>
                <a:spcPts val="800"/>
              </a:spcAft>
            </a:pPr>
            <a:r>
              <a:rPr sz="1400" b="1" i="0">
                <a:solidFill>
                  <a:srgbClr val="0F2D4A"/>
                </a:solidFill>
                <a:latin typeface="Segoe UI"/>
              </a:rPr>
              <a:t>Claude Skills  (repo-scoped)</a:t>
            </a:r>
          </a:p>
          <a:p>
            <a:pPr>
              <a:spcAft>
                <a:spcPts val="600"/>
              </a:spcAft>
            </a:pPr>
            <a:r>
              <a:rPr sz="1150" b="1" i="0">
                <a:solidFill>
                  <a:srgbClr val="2BB2A6"/>
                </a:solidFill>
                <a:latin typeface="Segoe UI"/>
              </a:rPr>
              <a:t>ui-script-generator  </a:t>
            </a:r>
            <a:r>
              <a:rPr sz="1100" b="0" i="0">
                <a:solidFill>
                  <a:srgbClr val="5B6472"/>
                </a:solidFill>
                <a:latin typeface="Segoe UI"/>
              </a:rPr>
              <a:t>— generate/update a UI spec from a chat scenario; encodes POM, fixtures, data-driven &amp; locator rules.</a:t>
            </a:r>
          </a:p>
          <a:p>
            <a:pPr>
              <a:spcAft>
                <a:spcPts val="600"/>
              </a:spcAft>
            </a:pPr>
            <a:r>
              <a:rPr sz="1150" b="1" i="0">
                <a:solidFill>
                  <a:srgbClr val="2BB2A6"/>
                </a:solidFill>
                <a:latin typeface="Segoe UI"/>
              </a:rPr>
              <a:t>data-driven-testing  </a:t>
            </a:r>
            <a:r>
              <a:rPr sz="1100" b="0" i="0">
                <a:solidFill>
                  <a:srgbClr val="5B6472"/>
                </a:solidFill>
                <a:latin typeface="Segoe UI"/>
              </a:rPr>
              <a:t>— runnerManager rows + testCaseId / testCaseName fixtures; JSON ↔ CSV, no conversion.</a:t>
            </a:r>
          </a:p>
          <a:p>
            <a:pPr>
              <a:spcAft>
                <a:spcPts val="600"/>
              </a:spcAft>
            </a:pPr>
            <a:r>
              <a:rPr sz="1150" b="1" i="0">
                <a:solidFill>
                  <a:srgbClr val="2BB2A6"/>
                </a:solidFill>
                <a:latin typeface="Segoe UI"/>
              </a:rPr>
              <a:t>tdd  </a:t>
            </a:r>
            <a:r>
              <a:rPr sz="1100" b="0" i="0">
                <a:solidFill>
                  <a:srgbClr val="5B6472"/>
                </a:solidFill>
                <a:latin typeface="Segoe UI"/>
              </a:rPr>
              <a:t>— red → green: write the failing spec from acceptance criteria first, then build page objects.</a:t>
            </a:r>
          </a:p>
          <a:p>
            <a:pPr>
              <a:spcAft>
                <a:spcPts val="600"/>
              </a:spcAft>
            </a:pPr>
            <a:r>
              <a:rPr sz="1150" b="1" i="0">
                <a:solidFill>
                  <a:srgbClr val="2BB2A6"/>
                </a:solidFill>
                <a:latin typeface="Segoe UI"/>
              </a:rPr>
              <a:t>jira-to-script  </a:t>
            </a:r>
            <a:r>
              <a:rPr sz="1100" b="0" i="0">
                <a:solidFill>
                  <a:srgbClr val="5B6472"/>
                </a:solidFill>
                <a:latin typeface="Segoe UI"/>
              </a:rPr>
              <a:t>— Jira ticket → plan → generate → run → heal (via Jira MCP + the agents).</a:t>
            </a:r>
          </a:p>
        </p:txBody>
      </p:sp>
      <p:sp>
        <p:nvSpPr>
          <p:cNvPr id="11" name="Rounded Rectangle 10"/>
          <p:cNvSpPr/>
          <p:nvPr/>
        </p:nvSpPr>
        <p:spPr>
          <a:xfrm>
            <a:off x="6172200" y="1572768"/>
            <a:ext cx="5440680" cy="306324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572768"/>
            <a:ext cx="82296" cy="3063240"/>
          </a:xfrm>
          <a:prstGeom prst="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737360"/>
            <a:ext cx="4983480" cy="2743200"/>
          </a:xfrm>
          <a:prstGeom prst="rect">
            <a:avLst/>
          </a:prstGeom>
          <a:noFill/>
        </p:spPr>
        <p:txBody>
          <a:bodyPr wrap="square" anchor="t" lIns="0" rIns="0" tIns="0" bIns="0">
            <a:spAutoFit/>
          </a:bodyPr>
          <a:lstStyle/>
          <a:p>
            <a:pPr algn="l">
              <a:spcBef>
                <a:spcPts val="0"/>
              </a:spcBef>
              <a:spcAft>
                <a:spcPts val="800"/>
              </a:spcAft>
            </a:pPr>
            <a:r>
              <a:rPr sz="1400" b="1" i="0">
                <a:solidFill>
                  <a:srgbClr val="0F2D4A"/>
                </a:solidFill>
                <a:latin typeface="Segoe UI"/>
              </a:rPr>
              <a:t>Playwright Agents  (subagents)</a:t>
            </a:r>
          </a:p>
          <a:p>
            <a:pPr>
              <a:spcAft>
                <a:spcPts val="600"/>
              </a:spcAft>
            </a:pPr>
            <a:r>
              <a:rPr sz="1150" b="1" i="0">
                <a:solidFill>
                  <a:srgbClr val="2BB2A6"/>
                </a:solidFill>
                <a:latin typeface="Segoe UI"/>
              </a:rPr>
              <a:t>planner  </a:t>
            </a:r>
            <a:r>
              <a:rPr sz="1100" b="0" i="0">
                <a:solidFill>
                  <a:srgbClr val="5B6472"/>
                </a:solidFill>
                <a:latin typeface="Segoe UI"/>
              </a:rPr>
              <a:t>— explores the live app in a real browser and saves a comprehensive test plan.</a:t>
            </a:r>
          </a:p>
          <a:p>
            <a:pPr>
              <a:spcAft>
                <a:spcPts val="600"/>
              </a:spcAft>
            </a:pPr>
            <a:r>
              <a:rPr sz="1150" b="1" i="0">
                <a:solidFill>
                  <a:srgbClr val="2BB2A6"/>
                </a:solidFill>
                <a:latin typeface="Segoe UI"/>
              </a:rPr>
              <a:t>generator  </a:t>
            </a:r>
            <a:r>
              <a:rPr sz="1100" b="0" i="0">
                <a:solidFill>
                  <a:srgbClr val="5B6472"/>
                </a:solidFill>
                <a:latin typeface="Segoe UI"/>
              </a:rPr>
              <a:t>— executes each planned step live, then writes the Playwright spec.</a:t>
            </a:r>
          </a:p>
          <a:p>
            <a:pPr>
              <a:spcAft>
                <a:spcPts val="600"/>
              </a:spcAft>
            </a:pPr>
            <a:r>
              <a:rPr sz="1150" b="1" i="0">
                <a:solidFill>
                  <a:srgbClr val="2BB2A6"/>
                </a:solidFill>
                <a:latin typeface="Segoe UI"/>
              </a:rPr>
              <a:t>healer  </a:t>
            </a:r>
            <a:r>
              <a:rPr sz="1100" b="0" i="0">
                <a:solidFill>
                  <a:srgbClr val="5B6472"/>
                </a:solidFill>
                <a:latin typeface="Segoe UI"/>
              </a:rPr>
              <a:t>— runs failing tests; debugs via snapshot / console / network; fixes selectors &amp; timing.</a:t>
            </a:r>
          </a:p>
          <a:p>
            <a:pPr algn="l">
              <a:spcBef>
                <a:spcPts val="600"/>
              </a:spcBef>
              <a:spcAft>
                <a:spcPts val="600"/>
              </a:spcAft>
            </a:pPr>
            <a:r>
              <a:rPr sz="1050" b="0" i="1">
                <a:solidFill>
                  <a:srgbClr val="949CA8"/>
                </a:solidFill>
                <a:latin typeface="Segoe UI"/>
              </a:rPr>
              <a:t>Each runs as an isolated subagent with only its Playwright MCP tools — planner &amp; generator author, healer repairs.</a:t>
            </a:r>
          </a:p>
        </p:txBody>
      </p:sp>
      <p:sp>
        <p:nvSpPr>
          <p:cNvPr id="14" name="Rounded Rectangle 13"/>
          <p:cNvSpPr/>
          <p:nvPr/>
        </p:nvSpPr>
        <p:spPr>
          <a:xfrm>
            <a:off x="548640" y="4828032"/>
            <a:ext cx="11094415" cy="105156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4965192"/>
            <a:ext cx="10509199" cy="868680"/>
          </a:xfrm>
          <a:prstGeom prst="rect">
            <a:avLst/>
          </a:prstGeom>
          <a:noFill/>
        </p:spPr>
        <p:txBody>
          <a:bodyPr wrap="square" anchor="ctr" lIns="0" rIns="0" tIns="0" bIns="0">
            <a:spAutoFit/>
          </a:bodyPr>
          <a:lstStyle/>
          <a:p>
            <a:pPr algn="l">
              <a:spcBef>
                <a:spcPts val="0"/>
              </a:spcBef>
              <a:spcAft>
                <a:spcPts val="300"/>
              </a:spcAft>
            </a:pPr>
            <a:r>
              <a:rPr sz="1250" b="1" i="0">
                <a:solidFill>
                  <a:srgbClr val="2BB2A6"/>
                </a:solidFill>
                <a:latin typeface="Segoe UI"/>
              </a:rPr>
              <a:t>Powered by MCP (.mcp.json)</a:t>
            </a:r>
          </a:p>
          <a:p>
            <a:pPr algn="l">
              <a:spcBef>
                <a:spcPts val="0"/>
              </a:spcBef>
              <a:spcAft>
                <a:spcPts val="600"/>
              </a:spcAft>
            </a:pPr>
            <a:r>
              <a:rPr sz="1150" b="0" i="0">
                <a:solidFill>
                  <a:srgbClr val="FFFFFF"/>
                </a:solidFill>
                <a:latin typeface="Segoe UI"/>
              </a:rPr>
              <a:t>playwright-test server → real-browser tools (snapshot, click, generate-locator, run/debug) · jira server → pulls stories.  The skills carry the repo's conventions, so generated specs use the POM / fixtures / data-driven layer and pass without manual correction.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OUTPUTS</a:t>
            </a:r>
          </a:p>
          <a:p>
            <a:pPr algn="l">
              <a:spcBef>
                <a:spcPts val="0"/>
              </a:spcBef>
              <a:spcAft>
                <a:spcPts val="0"/>
              </a:spcAft>
            </a:pPr>
            <a:r>
              <a:rPr sz="2400" b="1" i="0">
                <a:solidFill>
                  <a:srgbClr val="FFFFFF"/>
                </a:solidFill>
                <a:latin typeface="Segoe UI"/>
              </a:rPr>
              <a:t>Reporting</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10</a:t>
            </a:r>
          </a:p>
        </p:txBody>
      </p:sp>
      <p:sp>
        <p:nvSpPr>
          <p:cNvPr id="7" name="TextBox 6"/>
          <p:cNvSpPr txBox="1"/>
          <p:nvPr/>
        </p:nvSpPr>
        <p:spPr>
          <a:xfrm>
            <a:off x="548640" y="1024128"/>
            <a:ext cx="11094415" cy="310896"/>
          </a:xfrm>
          <a:prstGeom prst="rect">
            <a:avLst/>
          </a:prstGeom>
          <a:noFill/>
        </p:spPr>
        <p:txBody>
          <a:bodyPr wrap="square" anchor="t" lIns="0" rIns="0" tIns="0" bIns="0">
            <a:spAutoFit/>
          </a:bodyPr>
          <a:lstStyle/>
          <a:p>
            <a:pPr algn="l">
              <a:spcBef>
                <a:spcPts val="0"/>
              </a:spcBef>
              <a:spcAft>
                <a:spcPts val="600"/>
              </a:spcAft>
            </a:pPr>
            <a:r>
              <a:rPr sz="1300" b="1" i="0">
                <a:solidFill>
                  <a:srgbClr val="1F2937"/>
                </a:solidFill>
                <a:latin typeface="Segoe UI"/>
              </a:rPr>
              <a:t>Environment-tagged, rich notifications — real Email &amp; Slack output shown below.</a:t>
            </a:r>
          </a:p>
        </p:txBody>
      </p:sp>
      <p:sp>
        <p:nvSpPr>
          <p:cNvPr id="8" name="TextBox 7"/>
          <p:cNvSpPr txBox="1"/>
          <p:nvPr/>
        </p:nvSpPr>
        <p:spPr>
          <a:xfrm>
            <a:off x="548640" y="1389888"/>
            <a:ext cx="5029200" cy="256032"/>
          </a:xfrm>
          <a:prstGeom prst="rect">
            <a:avLst/>
          </a:prstGeom>
          <a:noFill/>
        </p:spPr>
        <p:txBody>
          <a:bodyPr wrap="square" anchor="t" lIns="0" rIns="0" tIns="0" bIns="0">
            <a:spAutoFit/>
          </a:bodyPr>
          <a:lstStyle/>
          <a:p>
            <a:pPr algn="l">
              <a:spcBef>
                <a:spcPts val="0"/>
              </a:spcBef>
              <a:spcAft>
                <a:spcPts val="600"/>
              </a:spcAft>
            </a:pPr>
            <a:r>
              <a:rPr sz="1050" b="1" i="0">
                <a:solidFill>
                  <a:srgbClr val="2BB2A6"/>
                </a:solidFill>
                <a:latin typeface="Segoe UI"/>
              </a:rPr>
              <a:t>EMAIL NOTIFICATION</a:t>
            </a:r>
          </a:p>
        </p:txBody>
      </p:sp>
      <p:pic>
        <p:nvPicPr>
          <p:cNvPr id="9" name="Picture 8" descr="email-report.png"/>
          <p:cNvPicPr>
            <a:picLocks noChangeAspect="1"/>
          </p:cNvPicPr>
          <p:nvPr/>
        </p:nvPicPr>
        <p:blipFill>
          <a:blip r:embed="rId2"/>
          <a:stretch>
            <a:fillRect/>
          </a:stretch>
        </p:blipFill>
        <p:spPr>
          <a:xfrm>
            <a:off x="548640" y="1664208"/>
            <a:ext cx="4670598" cy="4160520"/>
          </a:xfrm>
          <a:prstGeom prst="rect">
            <a:avLst/>
          </a:prstGeom>
          <a:ln w="9525">
            <a:solidFill>
              <a:srgbClr val="D8DEE6"/>
            </a:solidFill>
          </a:ln>
        </p:spPr>
      </p:pic>
      <p:sp>
        <p:nvSpPr>
          <p:cNvPr id="10" name="TextBox 9"/>
          <p:cNvSpPr txBox="1"/>
          <p:nvPr/>
        </p:nvSpPr>
        <p:spPr>
          <a:xfrm>
            <a:off x="5806440" y="1389888"/>
            <a:ext cx="5852160" cy="256032"/>
          </a:xfrm>
          <a:prstGeom prst="rect">
            <a:avLst/>
          </a:prstGeom>
          <a:noFill/>
        </p:spPr>
        <p:txBody>
          <a:bodyPr wrap="square" anchor="t" lIns="0" rIns="0" tIns="0" bIns="0">
            <a:spAutoFit/>
          </a:bodyPr>
          <a:lstStyle/>
          <a:p>
            <a:pPr algn="l">
              <a:spcBef>
                <a:spcPts val="0"/>
              </a:spcBef>
              <a:spcAft>
                <a:spcPts val="600"/>
              </a:spcAft>
            </a:pPr>
            <a:r>
              <a:rPr sz="1050" b="1" i="0">
                <a:solidFill>
                  <a:srgbClr val="2BB2A6"/>
                </a:solidFill>
                <a:latin typeface="Segoe UI"/>
              </a:rPr>
              <a:t>SLACK NOTIFICATION</a:t>
            </a:r>
          </a:p>
        </p:txBody>
      </p:sp>
      <p:pic>
        <p:nvPicPr>
          <p:cNvPr id="11" name="Picture 10" descr="slack-report.png"/>
          <p:cNvPicPr>
            <a:picLocks noChangeAspect="1"/>
          </p:cNvPicPr>
          <p:nvPr/>
        </p:nvPicPr>
        <p:blipFill>
          <a:blip r:embed="rId3"/>
          <a:stretch>
            <a:fillRect/>
          </a:stretch>
        </p:blipFill>
        <p:spPr>
          <a:xfrm>
            <a:off x="5806440" y="1664208"/>
            <a:ext cx="4937760" cy="2468880"/>
          </a:xfrm>
          <a:prstGeom prst="rect">
            <a:avLst/>
          </a:prstGeom>
          <a:ln w="9525">
            <a:solidFill>
              <a:srgbClr val="D8DEE6"/>
            </a:solidFill>
          </a:ln>
        </p:spPr>
      </p:pic>
      <p:sp>
        <p:nvSpPr>
          <p:cNvPr id="12" name="Rounded Rectangle 11"/>
          <p:cNvSpPr/>
          <p:nvPr/>
        </p:nvSpPr>
        <p:spPr>
          <a:xfrm>
            <a:off x="5806440" y="4315968"/>
            <a:ext cx="5806440" cy="160020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62472" y="4462272"/>
            <a:ext cx="5303520" cy="1371600"/>
          </a:xfrm>
          <a:prstGeom prst="rect">
            <a:avLst/>
          </a:prstGeom>
          <a:noFill/>
        </p:spPr>
        <p:txBody>
          <a:bodyPr wrap="square" anchor="t" lIns="0" rIns="0" tIns="0" bIns="0">
            <a:spAutoFit/>
          </a:bodyPr>
          <a:lstStyle/>
          <a:p>
            <a:pPr algn="l">
              <a:spcBef>
                <a:spcPts val="0"/>
              </a:spcBef>
              <a:spcAft>
                <a:spcPts val="500"/>
              </a:spcAft>
            </a:pPr>
            <a:r>
              <a:rPr sz="1300" b="1" i="0">
                <a:solidFill>
                  <a:srgbClr val="2BB2A6"/>
                </a:solidFill>
                <a:latin typeface="Segoe UI"/>
              </a:rPr>
              <a:t>Highlights</a:t>
            </a:r>
          </a:p>
          <a:p>
            <a:pPr algn="l">
              <a:spcBef>
                <a:spcPts val="0"/>
              </a:spcBef>
              <a:spcAft>
                <a:spcPts val="400"/>
              </a:spcAft>
            </a:pPr>
            <a:r>
              <a:rPr sz="1150" b="0" i="0">
                <a:solidFill>
                  <a:srgbClr val="FFFFFF"/>
                </a:solidFill>
                <a:latin typeface="Segoe UI"/>
              </a:rPr>
              <a:t>• Allure embeds screenshots only → the size failure is gone (~3 MB vs 5.8 MB); video &amp; trace stay in the Playwright HTML report + artifacts.</a:t>
            </a:r>
          </a:p>
          <a:p>
            <a:pPr algn="l">
              <a:spcBef>
                <a:spcPts val="0"/>
              </a:spcBef>
              <a:spcAft>
                <a:spcPts val="400"/>
              </a:spcAft>
            </a:pPr>
            <a:r>
              <a:rPr sz="1150" b="0" i="0">
                <a:solidFill>
                  <a:srgbClr val="FFFFFF"/>
                </a:solidFill>
                <a:latin typeface="Segoe UI"/>
              </a:rPr>
              <a:t>• Env badges: LOCAL / DEV / QA + CI · pass rate · failures with spec &amp; error · run link.</a:t>
            </a:r>
          </a:p>
          <a:p>
            <a:pPr algn="l">
              <a:spcBef>
                <a:spcPts val="0"/>
              </a:spcBef>
              <a:spcAft>
                <a:spcPts val="600"/>
              </a:spcAft>
            </a:pPr>
            <a:r>
              <a:rPr sz="1150" b="0" i="0">
                <a:solidFill>
                  <a:srgbClr val="C9D6E2"/>
                </a:solidFill>
                <a:latin typeface="Segoe UI"/>
              </a:rPr>
              <a:t>• Channels: List · HTML · JSON · Allure · Email · Slack · ELK (in progress). Email/Slack/ELK share one runSummary and are self-gating (opt-in).</a:t>
            </a:r>
          </a:p>
        </p:txBody>
      </p:sp>
      <p:sp>
        <p:nvSpPr>
          <p:cNvPr id="14" name="Rounded Rectangle 13"/>
          <p:cNvSpPr/>
          <p:nvPr/>
        </p:nvSpPr>
        <p:spPr>
          <a:xfrm>
            <a:off x="10332720" y="4462272"/>
            <a:ext cx="1051560" cy="274320"/>
          </a:xfrm>
          <a:prstGeom prst="roundRect">
            <a:avLst/>
          </a:prstGeom>
          <a:solidFill>
            <a:srgbClr val="F1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50" b="1" i="0">
                <a:solidFill>
                  <a:srgbClr val="FFFFFF"/>
                </a:solidFill>
                <a:latin typeface="Segoe UI"/>
              </a:rPr>
              <a:t>ELK: WIP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GITHUB ACTIONS</a:t>
            </a:r>
          </a:p>
          <a:p>
            <a:pPr algn="l">
              <a:spcBef>
                <a:spcPts val="0"/>
              </a:spcBef>
              <a:spcAft>
                <a:spcPts val="0"/>
              </a:spcAft>
            </a:pPr>
            <a:r>
              <a:rPr sz="2400" b="1" i="0">
                <a:solidFill>
                  <a:srgbClr val="FFFFFF"/>
                </a:solidFill>
                <a:latin typeface="Segoe UI"/>
              </a:rPr>
              <a:t>CI/CD Pipeline &amp; Triggers</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11</a:t>
            </a:r>
          </a:p>
        </p:txBody>
      </p:sp>
      <p:sp>
        <p:nvSpPr>
          <p:cNvPr id="7" name="TextBox 6"/>
          <p:cNvSpPr txBox="1"/>
          <p:nvPr/>
        </p:nvSpPr>
        <p:spPr>
          <a:xfrm>
            <a:off x="548640" y="1005840"/>
            <a:ext cx="11094415" cy="292608"/>
          </a:xfrm>
          <a:prstGeom prst="rect">
            <a:avLst/>
          </a:prstGeom>
          <a:noFill/>
        </p:spPr>
        <p:txBody>
          <a:bodyPr wrap="square" anchor="t" lIns="0" rIns="0" tIns="0" bIns="0">
            <a:spAutoFit/>
          </a:bodyPr>
          <a:lstStyle/>
          <a:p>
            <a:pPr algn="l">
              <a:spcBef>
                <a:spcPts val="0"/>
              </a:spcBef>
              <a:spcAft>
                <a:spcPts val="600"/>
              </a:spcAft>
            </a:pPr>
            <a:r>
              <a:rPr sz="1250" b="1" i="0">
                <a:solidFill>
                  <a:srgbClr val="1F2937"/>
                </a:solidFill>
                <a:latin typeface="Segoe UI"/>
              </a:rPr>
              <a:t>End-to-end: a developer commit flows all the way to Developer &amp; QA reviewing the results.</a:t>
            </a:r>
          </a:p>
        </p:txBody>
      </p:sp>
      <p:sp>
        <p:nvSpPr>
          <p:cNvPr id="8" name="Rounded Rectangle 7"/>
          <p:cNvSpPr/>
          <p:nvPr/>
        </p:nvSpPr>
        <p:spPr>
          <a:xfrm>
            <a:off x="548640" y="1508760"/>
            <a:ext cx="1938528" cy="86868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Developer
Commit</a:t>
            </a:r>
          </a:p>
        </p:txBody>
      </p:sp>
      <p:sp>
        <p:nvSpPr>
          <p:cNvPr id="9" name="Right Arrow 8"/>
          <p:cNvSpPr/>
          <p:nvPr/>
        </p:nvSpPr>
        <p:spPr>
          <a:xfrm>
            <a:off x="2487168" y="1778508"/>
            <a:ext cx="256032" cy="329184"/>
          </a:xfrm>
          <a:prstGeom prst="righ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43200" y="1508760"/>
            <a:ext cx="1938528" cy="86868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Dev
Repository</a:t>
            </a:r>
          </a:p>
        </p:txBody>
      </p:sp>
      <p:sp>
        <p:nvSpPr>
          <p:cNvPr id="11" name="Right Arrow 10"/>
          <p:cNvSpPr/>
          <p:nvPr/>
        </p:nvSpPr>
        <p:spPr>
          <a:xfrm>
            <a:off x="4681728" y="1778508"/>
            <a:ext cx="256032" cy="329184"/>
          </a:xfrm>
          <a:prstGeom prst="righ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37760" y="1508760"/>
            <a:ext cx="1938528" cy="86868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GitHub
Actions</a:t>
            </a:r>
          </a:p>
        </p:txBody>
      </p:sp>
      <p:sp>
        <p:nvSpPr>
          <p:cNvPr id="13" name="Right Arrow 12"/>
          <p:cNvSpPr/>
          <p:nvPr/>
        </p:nvSpPr>
        <p:spPr>
          <a:xfrm>
            <a:off x="6876288" y="1778508"/>
            <a:ext cx="256032" cy="329184"/>
          </a:xfrm>
          <a:prstGeom prst="righ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32320" y="1508760"/>
            <a:ext cx="1938528" cy="86868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Build</a:t>
            </a:r>
          </a:p>
        </p:txBody>
      </p:sp>
      <p:sp>
        <p:nvSpPr>
          <p:cNvPr id="15" name="Right Arrow 14"/>
          <p:cNvSpPr/>
          <p:nvPr/>
        </p:nvSpPr>
        <p:spPr>
          <a:xfrm>
            <a:off x="9070848" y="1778508"/>
            <a:ext cx="256032" cy="329184"/>
          </a:xfrm>
          <a:prstGeom prst="righ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0" y="1508760"/>
            <a:ext cx="1938528" cy="868680"/>
          </a:xfrm>
          <a:prstGeom prst="round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Deploy
to DEV</a:t>
            </a:r>
          </a:p>
        </p:txBody>
      </p:sp>
      <p:sp>
        <p:nvSpPr>
          <p:cNvPr id="17" name="Down Arrow 16"/>
          <p:cNvSpPr/>
          <p:nvPr/>
        </p:nvSpPr>
        <p:spPr>
          <a:xfrm>
            <a:off x="10094976" y="2377440"/>
            <a:ext cx="402336" cy="749808"/>
          </a:xfrm>
          <a:prstGeom prst="down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26880" y="3127248"/>
            <a:ext cx="1938528" cy="868680"/>
          </a:xfrm>
          <a:prstGeom prst="round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Trigger Playwright
Automation</a:t>
            </a:r>
          </a:p>
        </p:txBody>
      </p:sp>
      <p:sp>
        <p:nvSpPr>
          <p:cNvPr id="19" name="Left Arrow 18"/>
          <p:cNvSpPr/>
          <p:nvPr/>
        </p:nvSpPr>
        <p:spPr>
          <a:xfrm>
            <a:off x="9070848" y="3396996"/>
            <a:ext cx="256032" cy="329184"/>
          </a:xfrm>
          <a:prstGeom prst="lef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132320" y="3127248"/>
            <a:ext cx="1938528" cy="868680"/>
          </a:xfrm>
          <a:prstGeom prst="round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Run Playwright
Tests</a:t>
            </a:r>
          </a:p>
        </p:txBody>
      </p:sp>
      <p:sp>
        <p:nvSpPr>
          <p:cNvPr id="21" name="Left Arrow 20"/>
          <p:cNvSpPr/>
          <p:nvPr/>
        </p:nvSpPr>
        <p:spPr>
          <a:xfrm>
            <a:off x="6876288" y="3396996"/>
            <a:ext cx="256032" cy="329184"/>
          </a:xfrm>
          <a:prstGeom prst="lef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0" y="3127248"/>
            <a:ext cx="1938528" cy="868680"/>
          </a:xfrm>
          <a:prstGeom prst="round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Generate Report
&amp; Artifacts</a:t>
            </a:r>
          </a:p>
        </p:txBody>
      </p:sp>
      <p:sp>
        <p:nvSpPr>
          <p:cNvPr id="23" name="Left Arrow 22"/>
          <p:cNvSpPr/>
          <p:nvPr/>
        </p:nvSpPr>
        <p:spPr>
          <a:xfrm>
            <a:off x="4681728" y="3396996"/>
            <a:ext cx="256032" cy="329184"/>
          </a:xfrm>
          <a:prstGeom prst="lef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43200" y="3127248"/>
            <a:ext cx="1938528" cy="868680"/>
          </a:xfrm>
          <a:prstGeom prst="round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Return
PASS / FAIL</a:t>
            </a:r>
          </a:p>
        </p:txBody>
      </p:sp>
      <p:sp>
        <p:nvSpPr>
          <p:cNvPr id="25" name="Left Arrow 24"/>
          <p:cNvSpPr/>
          <p:nvPr/>
        </p:nvSpPr>
        <p:spPr>
          <a:xfrm>
            <a:off x="2487168" y="3396996"/>
            <a:ext cx="256032" cy="329184"/>
          </a:xfrm>
          <a:prstGeom prst="leftArrow">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3127248"/>
            <a:ext cx="1938528" cy="868680"/>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100" b="1" i="0">
                <a:solidFill>
                  <a:srgbClr val="FFFFFF"/>
                </a:solidFill>
                <a:latin typeface="Segoe UI"/>
              </a:rPr>
              <a:t>Developer &amp; QA
Review Results</a:t>
            </a:r>
          </a:p>
        </p:txBody>
      </p:sp>
      <p:sp>
        <p:nvSpPr>
          <p:cNvPr id="27" name="Up Arrow 26"/>
          <p:cNvSpPr/>
          <p:nvPr/>
        </p:nvSpPr>
        <p:spPr>
          <a:xfrm>
            <a:off x="10149840" y="3995928"/>
            <a:ext cx="292608" cy="310896"/>
          </a:xfrm>
          <a:prstGeom prst="upArrow">
            <a:avLst/>
          </a:prstGeom>
          <a:solidFill>
            <a:srgbClr val="F1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26880" y="4306824"/>
            <a:ext cx="1938528" cy="566928"/>
          </a:xfrm>
          <a:prstGeom prst="roundRect">
            <a:avLst/>
          </a:prstGeom>
          <a:solidFill>
            <a:srgbClr val="F1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50" b="1" i="0">
                <a:solidFill>
                  <a:srgbClr val="FFFFFF"/>
                </a:solidFill>
                <a:latin typeface="Segoe UI"/>
              </a:rPr>
              <a:t>Cron 4:00 PM IST</a:t>
            </a:r>
          </a:p>
          <a:p>
            <a:pPr algn="ctr">
              <a:spcAft>
                <a:spcPts val="200"/>
              </a:spcAft>
            </a:pPr>
            <a:r>
              <a:rPr sz="950" b="0" i="0">
                <a:solidFill>
                  <a:srgbClr val="FFFFFF"/>
                </a:solidFill>
                <a:latin typeface="Segoe UI"/>
              </a:rPr>
              <a:t>+ manual dispatch</a:t>
            </a:r>
          </a:p>
        </p:txBody>
      </p:sp>
      <p:sp>
        <p:nvSpPr>
          <p:cNvPr id="29" name="Rounded Rectangle 28"/>
          <p:cNvSpPr/>
          <p:nvPr/>
        </p:nvSpPr>
        <p:spPr>
          <a:xfrm>
            <a:off x="548640" y="5029200"/>
            <a:ext cx="11094415" cy="896112"/>
          </a:xfrm>
          <a:prstGeom prst="roundRect">
            <a:avLst/>
          </a:prstGeom>
          <a:solidFill>
            <a:srgbClr val="F3F6F9"/>
          </a:solidFill>
          <a:ln w="15875">
            <a:solidFill>
              <a:srgbClr val="2BB2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148072"/>
            <a:ext cx="10545775" cy="713232"/>
          </a:xfrm>
          <a:prstGeom prst="rect">
            <a:avLst/>
          </a:prstGeom>
          <a:noFill/>
        </p:spPr>
        <p:txBody>
          <a:bodyPr wrap="square" anchor="ctr" lIns="0" rIns="0" tIns="0" bIns="0">
            <a:spAutoFit/>
          </a:bodyPr>
          <a:lstStyle/>
          <a:p>
            <a:pPr algn="l">
              <a:spcBef>
                <a:spcPts val="0"/>
              </a:spcBef>
              <a:spcAft>
                <a:spcPts val="600"/>
              </a:spcAft>
            </a:pPr>
            <a:r>
              <a:rPr sz="1250" b="1" i="0">
                <a:solidFill>
                  <a:srgbClr val="1F2937"/>
                </a:solidFill>
                <a:latin typeface="Segoe UI"/>
              </a:rPr>
              <a:t>Two entry points into the automation:  (1) dev push → Build → Deploy to DEV auto-triggers it;  (2) Cron 4:00 PM IST daily / manual dispatch.</a:t>
            </a:r>
          </a:p>
          <a:p>
            <a:pPr algn="l">
              <a:spcBef>
                <a:spcPts val="200"/>
              </a:spcBef>
              <a:spcAft>
                <a:spcPts val="600"/>
              </a:spcAft>
            </a:pPr>
            <a:r>
              <a:rPr sz="1150" b="0" i="0">
                <a:solidFill>
                  <a:srgbClr val="5B6472"/>
                </a:solidFill>
                <a:latin typeface="Segoe UI"/>
              </a:rPr>
              <a:t>Results — PASS / FAIL plus Allure, Email &amp; Slack — flow back to Developer &amp; QA.</a:t>
            </a:r>
          </a:p>
        </p:txBody>
      </p:sp>
      <p:sp>
        <p:nvSpPr>
          <p:cNvPr id="31" name="TextBox 30"/>
          <p:cNvSpPr txBox="1"/>
          <p:nvPr/>
        </p:nvSpPr>
        <p:spPr>
          <a:xfrm>
            <a:off x="548640" y="6035040"/>
            <a:ext cx="11094415" cy="274320"/>
          </a:xfrm>
          <a:prstGeom prst="rect">
            <a:avLst/>
          </a:prstGeom>
          <a:noFill/>
        </p:spPr>
        <p:txBody>
          <a:bodyPr wrap="square" anchor="t" lIns="0" rIns="0" tIns="0" bIns="0">
            <a:spAutoFit/>
          </a:bodyPr>
          <a:lstStyle/>
          <a:p>
            <a:pPr algn="l">
              <a:spcBef>
                <a:spcPts val="0"/>
              </a:spcBef>
              <a:spcAft>
                <a:spcPts val="600"/>
              </a:spcAft>
            </a:pPr>
            <a:r>
              <a:rPr sz="1050" b="0" i="0">
                <a:solidFill>
                  <a:srgbClr val="949CA8"/>
                </a:solidFill>
                <a:latin typeface="Segoe UI"/>
              </a:rPr>
              <a:t>CI policy: workers=1 (shared storageState) · retries=2 · test.only blocked · concurrency-cancel per ref.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INFRASTRUCTURE</a:t>
            </a:r>
          </a:p>
          <a:p>
            <a:pPr algn="l">
              <a:spcBef>
                <a:spcPts val="0"/>
              </a:spcBef>
              <a:spcAft>
                <a:spcPts val="0"/>
              </a:spcAft>
            </a:pPr>
            <a:r>
              <a:rPr sz="2400" b="1" i="0">
                <a:solidFill>
                  <a:srgbClr val="FFFFFF"/>
                </a:solidFill>
                <a:latin typeface="Segoe UI"/>
              </a:rPr>
              <a:t>CI/CD Features, Notifications &amp; Environments</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12</a:t>
            </a:r>
          </a:p>
        </p:txBody>
      </p:sp>
      <p:sp>
        <p:nvSpPr>
          <p:cNvPr id="7" name="Rounded Rectangle 6"/>
          <p:cNvSpPr/>
          <p:nvPr/>
        </p:nvSpPr>
        <p:spPr>
          <a:xfrm>
            <a:off x="548640" y="1234440"/>
            <a:ext cx="3502152" cy="256032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34440"/>
            <a:ext cx="82296" cy="256032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380744"/>
            <a:ext cx="3118104" cy="228600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Artifacts &amp; History</a:t>
            </a:r>
          </a:p>
          <a:p>
            <a:pPr algn="l">
              <a:spcBef>
                <a:spcPts val="0"/>
              </a:spcBef>
              <a:spcAft>
                <a:spcPts val="300"/>
              </a:spcAft>
            </a:pPr>
            <a:r>
              <a:rPr sz="1150" b="0" i="0">
                <a:solidFill>
                  <a:srgbClr val="5B6472"/>
                </a:solidFill>
                <a:latin typeface="Segoe UI"/>
              </a:rPr>
              <a:t>Playwright HTML report (with traces).</a:t>
            </a:r>
          </a:p>
          <a:p>
            <a:pPr algn="l">
              <a:spcBef>
                <a:spcPts val="0"/>
              </a:spcBef>
              <a:spcAft>
                <a:spcPts val="300"/>
              </a:spcAft>
            </a:pPr>
            <a:r>
              <a:rPr sz="1150" b="0" i="0">
                <a:solidFill>
                  <a:srgbClr val="5B6472"/>
                </a:solidFill>
                <a:latin typeface="Segoe UI"/>
              </a:rPr>
              <a:t>Allure report — screenshots only.</a:t>
            </a:r>
          </a:p>
          <a:p>
            <a:pPr algn="l">
              <a:spcBef>
                <a:spcPts val="0"/>
              </a:spcBef>
              <a:spcAft>
                <a:spcPts val="300"/>
              </a:spcAft>
            </a:pPr>
            <a:r>
              <a:rPr sz="1150" b="0" i="0">
                <a:solidFill>
                  <a:srgbClr val="5B6472"/>
                </a:solidFill>
                <a:latin typeface="Segoe UI"/>
              </a:rPr>
              <a:t>Trend history cached across runs.</a:t>
            </a:r>
          </a:p>
          <a:p>
            <a:pPr algn="l">
              <a:spcBef>
                <a:spcPts val="0"/>
              </a:spcBef>
              <a:spcAft>
                <a:spcPts val="300"/>
              </a:spcAft>
            </a:pPr>
            <a:r>
              <a:rPr sz="1150" b="0" i="0">
                <a:solidFill>
                  <a:srgbClr val="5B6472"/>
                </a:solidFill>
                <a:latin typeface="Segoe UI"/>
              </a:rPr>
              <a:t>Retained as CI artifacts per run.</a:t>
            </a:r>
          </a:p>
        </p:txBody>
      </p:sp>
      <p:sp>
        <p:nvSpPr>
          <p:cNvPr id="10" name="Rounded Rectangle 9"/>
          <p:cNvSpPr/>
          <p:nvPr/>
        </p:nvSpPr>
        <p:spPr>
          <a:xfrm>
            <a:off x="4251960" y="1234440"/>
            <a:ext cx="3502152" cy="256032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234440"/>
            <a:ext cx="82296" cy="2560320"/>
          </a:xfrm>
          <a:prstGeom prst="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380744"/>
            <a:ext cx="3118104" cy="228600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Notifications</a:t>
            </a:r>
          </a:p>
          <a:p>
            <a:pPr algn="l">
              <a:spcBef>
                <a:spcPts val="0"/>
              </a:spcBef>
              <a:spcAft>
                <a:spcPts val="300"/>
              </a:spcAft>
            </a:pPr>
            <a:r>
              <a:rPr sz="1150" b="0" i="0">
                <a:solidFill>
                  <a:srgbClr val="5B6472"/>
                </a:solidFill>
                <a:latin typeface="Segoe UI"/>
              </a:rPr>
              <a:t>Email — rich HTML + lean Allure attach.</a:t>
            </a:r>
          </a:p>
          <a:p>
            <a:pPr algn="l">
              <a:spcBef>
                <a:spcPts val="0"/>
              </a:spcBef>
              <a:spcAft>
                <a:spcPts val="300"/>
              </a:spcAft>
            </a:pPr>
            <a:r>
              <a:rPr sz="1150" b="0" i="0">
                <a:solidFill>
                  <a:srgbClr val="5B6472"/>
                </a:solidFill>
                <a:latin typeface="Segoe UI"/>
              </a:rPr>
              <a:t>Slack — Block Kit summary + color bar.</a:t>
            </a:r>
          </a:p>
          <a:p>
            <a:pPr algn="l">
              <a:spcBef>
                <a:spcPts val="0"/>
              </a:spcBef>
              <a:spcAft>
                <a:spcPts val="300"/>
              </a:spcAft>
            </a:pPr>
            <a:r>
              <a:rPr sz="1150" b="0" i="0">
                <a:solidFill>
                  <a:srgbClr val="5B6472"/>
                </a:solidFill>
                <a:latin typeface="Segoe UI"/>
              </a:rPr>
              <a:t>ELK push — in progress.</a:t>
            </a:r>
          </a:p>
          <a:p>
            <a:pPr algn="l">
              <a:spcBef>
                <a:spcPts val="0"/>
              </a:spcBef>
              <a:spcAft>
                <a:spcPts val="300"/>
              </a:spcAft>
            </a:pPr>
            <a:r>
              <a:rPr sz="1150" b="0" i="0">
                <a:solidFill>
                  <a:srgbClr val="5B6472"/>
                </a:solidFill>
                <a:latin typeface="Segoe UI"/>
              </a:rPr>
              <a:t>All self-gating (SEND_* env flags).</a:t>
            </a:r>
          </a:p>
        </p:txBody>
      </p:sp>
      <p:sp>
        <p:nvSpPr>
          <p:cNvPr id="13" name="Rounded Rectangle 12"/>
          <p:cNvSpPr/>
          <p:nvPr/>
        </p:nvSpPr>
        <p:spPr>
          <a:xfrm>
            <a:off x="7955280" y="1234440"/>
            <a:ext cx="3502152" cy="256032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234440"/>
            <a:ext cx="82296" cy="2560320"/>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380744"/>
            <a:ext cx="3118104" cy="228600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Environments &amp; Secrets</a:t>
            </a:r>
          </a:p>
          <a:p>
            <a:pPr algn="l">
              <a:spcBef>
                <a:spcPts val="0"/>
              </a:spcBef>
              <a:spcAft>
                <a:spcPts val="300"/>
              </a:spcAft>
            </a:pPr>
            <a:r>
              <a:rPr sz="1150" b="0" i="0">
                <a:solidFill>
                  <a:srgbClr val="5B6472"/>
                </a:solidFill>
                <a:latin typeface="Segoe UI"/>
              </a:rPr>
              <a:t>env.local / env.dev / env.qa  ·  TEST_ENV.</a:t>
            </a:r>
          </a:p>
          <a:p>
            <a:pPr algn="l">
              <a:spcBef>
                <a:spcPts val="0"/>
              </a:spcBef>
              <a:spcAft>
                <a:spcPts val="300"/>
              </a:spcAft>
            </a:pPr>
            <a:r>
              <a:rPr sz="1150" b="0" i="0">
                <a:solidFill>
                  <a:srgbClr val="5B6472"/>
                </a:solidFill>
                <a:latin typeface="Segoe UI"/>
              </a:rPr>
              <a:t>CI secrets take precedence over files.</a:t>
            </a:r>
          </a:p>
          <a:p>
            <a:pPr algn="l">
              <a:spcBef>
                <a:spcPts val="0"/>
              </a:spcBef>
              <a:spcAft>
                <a:spcPts val="300"/>
              </a:spcAft>
            </a:pPr>
            <a:r>
              <a:rPr sz="1150" b="0" i="0">
                <a:solidFill>
                  <a:srgbClr val="5B6472"/>
                </a:solidFill>
                <a:latin typeface="Segoe UI"/>
              </a:rPr>
              <a:t>Env badges surface where a run executed.</a:t>
            </a:r>
          </a:p>
          <a:p>
            <a:pPr algn="l">
              <a:spcBef>
                <a:spcPts val="0"/>
              </a:spcBef>
              <a:spcAft>
                <a:spcPts val="300"/>
              </a:spcAft>
            </a:pPr>
            <a:r>
              <a:rPr sz="1150" b="0" i="0">
                <a:solidFill>
                  <a:srgbClr val="5B6472"/>
                </a:solidFill>
                <a:latin typeface="Segoe UI"/>
              </a:rPr>
              <a:t>SMTP / Slack / creds via CI secrets only.</a:t>
            </a:r>
          </a:p>
        </p:txBody>
      </p:sp>
      <p:sp>
        <p:nvSpPr>
          <p:cNvPr id="16" name="TextBox 15"/>
          <p:cNvSpPr txBox="1"/>
          <p:nvPr/>
        </p:nvSpPr>
        <p:spPr>
          <a:xfrm>
            <a:off x="548640" y="4069080"/>
            <a:ext cx="11094415" cy="1371600"/>
          </a:xfrm>
          <a:prstGeom prst="rect">
            <a:avLst/>
          </a:prstGeom>
          <a:noFill/>
        </p:spPr>
        <p:txBody>
          <a:bodyPr wrap="square" anchor="t" lIns="0" rIns="0" tIns="0" bIns="0">
            <a:spAutoFit/>
          </a:bodyPr>
          <a:lstStyle/>
          <a:p>
            <a:pPr algn="l">
              <a:spcBef>
                <a:spcPts val="0"/>
              </a:spcBef>
              <a:spcAft>
                <a:spcPts val="400"/>
              </a:spcAft>
            </a:pPr>
            <a:r>
              <a:rPr sz="1300" b="1" i="0">
                <a:solidFill>
                  <a:srgbClr val="2BB2A6"/>
                </a:solidFill>
                <a:latin typeface="Segoe UI"/>
              </a:rPr>
              <a:t>Secrets never live in the repo</a:t>
            </a:r>
          </a:p>
          <a:p>
            <a:pPr algn="l">
              <a:spcBef>
                <a:spcPts val="0"/>
              </a:spcBef>
              <a:spcAft>
                <a:spcPts val="600"/>
              </a:spcAft>
            </a:pPr>
            <a:r>
              <a:rPr sz="1300" b="0" i="0">
                <a:solidFill>
                  <a:srgbClr val="5B6472"/>
                </a:solidFill>
                <a:latin typeface="Segoe UI"/>
              </a:rPr>
              <a:t>Committed env files hold only non-secret defaults; real credentials (app login, SMTP, Slack webhook) come from CI secret stores or the local shell, with OS/CI values always winning.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100"/>
              </a:spcAft>
            </a:pPr>
            <a:r>
              <a:rPr sz="1100" b="1" i="0">
                <a:solidFill>
                  <a:srgbClr val="2BB2A6"/>
                </a:solidFill>
                <a:latin typeface="Segoe UI"/>
              </a:rPr>
              <a:t>ONE HARNESS · NO DUPLICATION</a:t>
            </a:r>
          </a:p>
          <a:p>
            <a:pPr algn="l">
              <a:spcBef>
                <a:spcPts val="0"/>
              </a:spcBef>
              <a:spcAft>
                <a:spcPts val="0"/>
              </a:spcAft>
            </a:pPr>
            <a:r>
              <a:rPr sz="2400" b="1" i="0">
                <a:solidFill>
                  <a:srgbClr val="FFFFFF"/>
                </a:solidFill>
                <a:latin typeface="Segoe UI"/>
              </a:rPr>
              <a:t>Consolidating the web-pet e2e Suite</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13</a:t>
            </a:r>
          </a:p>
        </p:txBody>
      </p:sp>
      <p:sp>
        <p:nvSpPr>
          <p:cNvPr id="7" name="Rounded Rectangle 6"/>
          <p:cNvSpPr/>
          <p:nvPr/>
        </p:nvSpPr>
        <p:spPr>
          <a:xfrm>
            <a:off x="548640" y="1170432"/>
            <a:ext cx="5440680" cy="251460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170432"/>
            <a:ext cx="82296" cy="2514600"/>
          </a:xfrm>
          <a:prstGeom prst="rect">
            <a:avLst/>
          </a:prstGeom>
          <a:solidFill>
            <a:srgbClr val="1B4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316736"/>
            <a:ext cx="5056632" cy="224028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web-pet e2e today (56 specs)</a:t>
            </a:r>
          </a:p>
          <a:p>
            <a:pPr algn="l">
              <a:spcBef>
                <a:spcPts val="0"/>
              </a:spcBef>
              <a:spcAft>
                <a:spcPts val="300"/>
              </a:spcAft>
            </a:pPr>
            <a:r>
              <a:rPr sz="1150" b="0" i="0">
                <a:solidFill>
                  <a:srgbClr val="5B6472"/>
                </a:solidFill>
                <a:latin typeface="Segoe UI"/>
              </a:rPr>
              <a:t>Chromium-only; import { test } from ./fixtures (storageState auth).</a:t>
            </a:r>
          </a:p>
          <a:p>
            <a:pPr algn="l">
              <a:spcBef>
                <a:spcPts val="0"/>
              </a:spcBef>
              <a:spcAft>
                <a:spcPts val="300"/>
              </a:spcAft>
            </a:pPr>
            <a:r>
              <a:rPr sz="1150" b="0" i="0">
                <a:solidFill>
                  <a:srgbClr val="5B6472"/>
                </a:solidFill>
                <a:latin typeface="Segoe UI"/>
              </a:rPr>
              <a:t>global-setup logs in once; restricted-user gating for scope tests.</a:t>
            </a:r>
          </a:p>
          <a:p>
            <a:pPr algn="l">
              <a:spcBef>
                <a:spcPts val="0"/>
              </a:spcBef>
              <a:spcAft>
                <a:spcPts val="300"/>
              </a:spcAft>
            </a:pPr>
            <a:r>
              <a:rPr sz="1150" b="0" i="0">
                <a:solidFill>
                  <a:srgbClr val="5B6472"/>
                </a:solidFill>
                <a:latin typeface="Segoe UI"/>
              </a:rPr>
              <a:t>parent-picker-helpers.ts for non-native pickers; resolve ids by name.</a:t>
            </a:r>
          </a:p>
          <a:p>
            <a:pPr algn="l">
              <a:spcBef>
                <a:spcPts val="0"/>
              </a:spcBef>
              <a:spcAft>
                <a:spcPts val="300"/>
              </a:spcAft>
            </a:pPr>
            <a:r>
              <a:rPr sz="1150" b="0" i="0">
                <a:solidFill>
                  <a:srgbClr val="5B6472"/>
                </a:solidFill>
                <a:latin typeface="Segoe UI"/>
              </a:rPr>
              <a:t>equiv/ — 7 parity specs (scenario.yaml, RUN_TOKEN, env-gated).</a:t>
            </a:r>
          </a:p>
          <a:p>
            <a:pPr algn="l">
              <a:spcBef>
                <a:spcPts val="0"/>
              </a:spcBef>
              <a:spcAft>
                <a:spcPts val="300"/>
              </a:spcAft>
            </a:pPr>
            <a:r>
              <a:rPr sz="1150" b="0" i="0">
                <a:solidFill>
                  <a:srgbClr val="5B6472"/>
                </a:solidFill>
                <a:latin typeface="Segoe UI"/>
              </a:rPr>
              <a:t>No page-object layer; kebab-case + JSDoc headers; onBlur gotchas.</a:t>
            </a:r>
          </a:p>
        </p:txBody>
      </p:sp>
      <p:sp>
        <p:nvSpPr>
          <p:cNvPr id="10" name="Rounded Rectangle 9"/>
          <p:cNvSpPr/>
          <p:nvPr/>
        </p:nvSpPr>
        <p:spPr>
          <a:xfrm>
            <a:off x="6172200" y="1170432"/>
            <a:ext cx="5440680" cy="251460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170432"/>
            <a:ext cx="82296" cy="2514600"/>
          </a:xfrm>
          <a:prstGeom prst="rect">
            <a:avLst/>
          </a:prstGeom>
          <a:solidFill>
            <a:srgbClr val="F1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316736"/>
            <a:ext cx="5056632" cy="2240280"/>
          </a:xfrm>
          <a:prstGeom prst="rect">
            <a:avLst/>
          </a:prstGeom>
          <a:noFill/>
        </p:spPr>
        <p:txBody>
          <a:bodyPr wrap="square" anchor="t" lIns="0" rIns="0" tIns="0" bIns="0">
            <a:spAutoFit/>
          </a:bodyPr>
          <a:lstStyle/>
          <a:p>
            <a:pPr algn="l">
              <a:spcBef>
                <a:spcPts val="0"/>
              </a:spcBef>
              <a:spcAft>
                <a:spcPts val="500"/>
              </a:spcAft>
            </a:pPr>
            <a:r>
              <a:rPr sz="1500" b="1" i="0">
                <a:solidFill>
                  <a:srgbClr val="0F2D4A"/>
                </a:solidFill>
                <a:latin typeface="Segoe UI"/>
              </a:rPr>
              <a:t>Duplication risk</a:t>
            </a:r>
          </a:p>
          <a:p>
            <a:pPr algn="l">
              <a:spcBef>
                <a:spcPts val="0"/>
              </a:spcBef>
              <a:spcAft>
                <a:spcPts val="300"/>
              </a:spcAft>
            </a:pPr>
            <a:r>
              <a:rPr sz="1150" b="0" i="0">
                <a:solidFill>
                  <a:srgbClr val="5B6472"/>
                </a:solidFill>
                <a:latin typeface="Segoe UI"/>
              </a:rPr>
              <a:t>Two parallel fixture layers.</a:t>
            </a:r>
          </a:p>
          <a:p>
            <a:pPr algn="l">
              <a:spcBef>
                <a:spcPts val="0"/>
              </a:spcBef>
              <a:spcAft>
                <a:spcPts val="300"/>
              </a:spcAft>
            </a:pPr>
            <a:r>
              <a:rPr sz="1150" b="0" i="0">
                <a:solidFill>
                  <a:srgbClr val="5B6472"/>
                </a:solidFill>
                <a:latin typeface="Segoe UI"/>
              </a:rPr>
              <a:t>Two storageState auth setups.</a:t>
            </a:r>
          </a:p>
          <a:p>
            <a:pPr algn="l">
              <a:spcBef>
                <a:spcPts val="0"/>
              </a:spcBef>
              <a:spcAft>
                <a:spcPts val="300"/>
              </a:spcAft>
            </a:pPr>
            <a:r>
              <a:rPr sz="1150" b="0" i="0">
                <a:solidFill>
                  <a:srgbClr val="5B6472"/>
                </a:solidFill>
                <a:latin typeface="Segoe UI"/>
              </a:rPr>
              <a:t>Two Playwright configs &amp; reporting paths.</a:t>
            </a:r>
          </a:p>
          <a:p>
            <a:pPr algn="l">
              <a:spcBef>
                <a:spcPts val="0"/>
              </a:spcBef>
              <a:spcAft>
                <a:spcPts val="300"/>
              </a:spcAft>
            </a:pPr>
            <a:r>
              <a:rPr sz="1150" b="0" i="0">
                <a:solidFill>
                  <a:srgbClr val="5B6472"/>
                </a:solidFill>
                <a:latin typeface="Segoe UI"/>
              </a:rPr>
              <a:t>Divergent conventions over time.</a:t>
            </a:r>
          </a:p>
        </p:txBody>
      </p:sp>
      <p:sp>
        <p:nvSpPr>
          <p:cNvPr id="13" name="Rounded Rectangle 12"/>
          <p:cNvSpPr/>
          <p:nvPr/>
        </p:nvSpPr>
        <p:spPr>
          <a:xfrm>
            <a:off x="548640" y="3913632"/>
            <a:ext cx="11094415" cy="1938528"/>
          </a:xfrm>
          <a:prstGeom prst="round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4078224"/>
            <a:ext cx="10509199" cy="1645920"/>
          </a:xfrm>
          <a:prstGeom prst="rect">
            <a:avLst/>
          </a:prstGeom>
          <a:noFill/>
        </p:spPr>
        <p:txBody>
          <a:bodyPr wrap="square" anchor="t" lIns="0" rIns="0" tIns="0" bIns="0">
            <a:spAutoFit/>
          </a:bodyPr>
          <a:lstStyle/>
          <a:p>
            <a:pPr algn="l">
              <a:spcBef>
                <a:spcPts val="0"/>
              </a:spcBef>
              <a:spcAft>
                <a:spcPts val="600"/>
              </a:spcAft>
            </a:pPr>
            <a:r>
              <a:rPr sz="1400" b="1" i="0">
                <a:solidFill>
                  <a:srgbClr val="2BB2A6"/>
                </a:solidFill>
                <a:latin typeface="Segoe UI"/>
              </a:rPr>
              <a:t>Consolidation strategy — specs move into the framework, reuse one harness</a:t>
            </a:r>
          </a:p>
          <a:p>
            <a:pPr algn="l">
              <a:spcBef>
                <a:spcPts val="0"/>
              </a:spcBef>
              <a:spcAft>
                <a:spcPts val="300"/>
              </a:spcAft>
            </a:pPr>
            <a:r>
              <a:rPr sz="1200" b="0" i="0">
                <a:solidFill>
                  <a:srgbClr val="FFFFFF"/>
                </a:solidFill>
                <a:latin typeface="Segoe UI"/>
              </a:rPr>
              <a:t>• Framework base.fixture becomes the single storageState auth source — retire web-pet's fixtures.ts / global-setup.</a:t>
            </a:r>
          </a:p>
          <a:p>
            <a:pPr algn="l">
              <a:spcBef>
                <a:spcPts val="0"/>
              </a:spcBef>
              <a:spcAft>
                <a:spcPts val="300"/>
              </a:spcAft>
            </a:pPr>
            <a:r>
              <a:rPr sz="1200" b="0" i="0">
                <a:solidFill>
                  <a:srgbClr val="FFFFFF"/>
                </a:solidFill>
                <a:latin typeface="Segoe UI"/>
              </a:rPr>
              <a:t>• parent-picker-helpers → reusable Modal / Form / custom-picker components.</a:t>
            </a:r>
          </a:p>
          <a:p>
            <a:pPr algn="l">
              <a:spcBef>
                <a:spcPts val="0"/>
              </a:spcBef>
              <a:spcAft>
                <a:spcPts val="300"/>
              </a:spcAft>
            </a:pPr>
            <a:r>
              <a:rPr sz="1200" b="0" i="0">
                <a:solidFill>
                  <a:srgbClr val="FFFFFF"/>
                </a:solidFill>
                <a:latin typeface="Segoe UI"/>
              </a:rPr>
              <a:t>• Route every spec through one reporting pipeline (Allure / Email / Slack) under CI triggers.</a:t>
            </a:r>
          </a:p>
          <a:p>
            <a:pPr algn="l">
              <a:spcBef>
                <a:spcPts val="0"/>
              </a:spcBef>
              <a:spcAft>
                <a:spcPts val="0"/>
              </a:spcAft>
            </a:pPr>
            <a:r>
              <a:rPr sz="1200" b="0" i="0">
                <a:solidFill>
                  <a:srgbClr val="C9D6E2"/>
                </a:solidFill>
                <a:latin typeface="Segoe UI"/>
              </a:rPr>
              <a:t>• Keep the good patterns as conventions: resolve-ids-by-name + equiv/ parity + JSDoc headers.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2B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789920" cy="640080"/>
          </a:xfrm>
          <a:prstGeom prst="rect">
            <a:avLst/>
          </a:prstGeom>
          <a:noFill/>
        </p:spPr>
        <p:txBody>
          <a:bodyPr wrap="square" anchor="ctr" lIns="0" rIns="0" tIns="0" bIns="0">
            <a:spAutoFit/>
          </a:bodyPr>
          <a:lstStyle/>
          <a:p>
            <a:pPr algn="l">
              <a:spcBef>
                <a:spcPts val="0"/>
              </a:spcBef>
              <a:spcAft>
                <a:spcPts val="0"/>
              </a:spcAft>
            </a:pPr>
            <a:r>
              <a:rPr sz="2600" b="1" i="0">
                <a:solidFill>
                  <a:srgbClr val="FFFFFF"/>
                </a:solidFill>
                <a:latin typeface="Segoe UI"/>
              </a:rPr>
              <a:t>Status &amp; Next Steps</a:t>
            </a:r>
          </a:p>
        </p:txBody>
      </p:sp>
      <p:sp>
        <p:nvSpPr>
          <p:cNvPr id="5" name="TextBox 4"/>
          <p:cNvSpPr txBox="1"/>
          <p:nvPr/>
        </p:nvSpPr>
        <p:spPr>
          <a:xfrm>
            <a:off x="548640" y="6473952"/>
            <a:ext cx="8229600" cy="274320"/>
          </a:xfrm>
          <a:prstGeom prst="rect">
            <a:avLst/>
          </a:prstGeom>
          <a:noFill/>
        </p:spPr>
        <p:txBody>
          <a:bodyPr wrap="square" anchor="t" lIns="0" rIns="0" tIns="0" bIns="0">
            <a:spAutoFit/>
          </a:bodyPr>
          <a:lstStyle/>
          <a:p>
            <a:pPr algn="l">
              <a:spcBef>
                <a:spcPts val="0"/>
              </a:spcBef>
              <a:spcAft>
                <a:spcPts val="600"/>
              </a:spcAft>
            </a:pPr>
            <a:r>
              <a:rPr sz="900" b="0" i="0">
                <a:solidFill>
                  <a:srgbClr val="949CA8"/>
                </a:solidFill>
                <a:latin typeface="Segoe UI"/>
              </a:rPr>
              <a:t>Playwright Enterprise E2E Test Framework</a:t>
            </a:r>
          </a:p>
        </p:txBody>
      </p:sp>
      <p:sp>
        <p:nvSpPr>
          <p:cNvPr id="6" name="TextBox 5"/>
          <p:cNvSpPr txBox="1"/>
          <p:nvPr/>
        </p:nvSpPr>
        <p:spPr>
          <a:xfrm>
            <a:off x="10607040" y="6473952"/>
            <a:ext cx="1033271" cy="274320"/>
          </a:xfrm>
          <a:prstGeom prst="rect">
            <a:avLst/>
          </a:prstGeom>
          <a:noFill/>
        </p:spPr>
        <p:txBody>
          <a:bodyPr wrap="square" anchor="t" lIns="0" rIns="0" tIns="0" bIns="0">
            <a:spAutoFit/>
          </a:bodyPr>
          <a:lstStyle/>
          <a:p>
            <a:pPr algn="r">
              <a:spcBef>
                <a:spcPts val="0"/>
              </a:spcBef>
              <a:spcAft>
                <a:spcPts val="600"/>
              </a:spcAft>
            </a:pPr>
            <a:r>
              <a:rPr sz="900" b="0" i="0">
                <a:solidFill>
                  <a:srgbClr val="949CA8"/>
                </a:solidFill>
                <a:latin typeface="Segoe UI"/>
              </a:rPr>
              <a:t>14</a:t>
            </a:r>
          </a:p>
        </p:txBody>
      </p:sp>
      <p:sp>
        <p:nvSpPr>
          <p:cNvPr id="7" name="Rounded Rectangle 6"/>
          <p:cNvSpPr/>
          <p:nvPr/>
        </p:nvSpPr>
        <p:spPr>
          <a:xfrm>
            <a:off x="548640" y="1234440"/>
            <a:ext cx="5440680" cy="42976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4892040" cy="3931920"/>
          </a:xfrm>
          <a:prstGeom prst="rect">
            <a:avLst/>
          </a:prstGeom>
          <a:noFill/>
        </p:spPr>
        <p:txBody>
          <a:bodyPr wrap="square" anchor="t" lIns="0" rIns="0" tIns="0" bIns="0">
            <a:spAutoFit/>
          </a:bodyPr>
          <a:lstStyle/>
          <a:p>
            <a:pPr algn="l">
              <a:spcBef>
                <a:spcPts val="0"/>
              </a:spcBef>
              <a:spcAft>
                <a:spcPts val="800"/>
              </a:spcAft>
            </a:pPr>
            <a:r>
              <a:rPr sz="1500" b="1" i="0">
                <a:solidFill>
                  <a:srgbClr val="0F2D4A"/>
                </a:solidFill>
                <a:latin typeface="Segoe UI"/>
              </a:rPr>
              <a:t>Framework &amp; Reporting</a:t>
            </a:r>
          </a:p>
          <a:p>
            <a:pPr>
              <a:spcAft>
                <a:spcPts val="600"/>
              </a:spcAft>
            </a:pPr>
            <a:r>
              <a:rPr sz="1250" b="1" i="0">
                <a:solidFill>
                  <a:srgbClr val="16A34A"/>
                </a:solidFill>
                <a:latin typeface="Segoe UI"/>
              </a:rPr>
              <a:t>✓  POM &amp; reusable component architecture</a:t>
            </a:r>
          </a:p>
          <a:p>
            <a:pPr>
              <a:spcAft>
                <a:spcPts val="600"/>
              </a:spcAft>
            </a:pPr>
            <a:r>
              <a:rPr sz="1250" b="1" i="0">
                <a:solidFill>
                  <a:srgbClr val="16A34A"/>
                </a:solidFill>
                <a:latin typeface="Segoe UI"/>
              </a:rPr>
              <a:t>✓  Data-driven testing (JSON / CSV direct)</a:t>
            </a:r>
          </a:p>
          <a:p>
            <a:pPr>
              <a:spcAft>
                <a:spcPts val="600"/>
              </a:spcAft>
            </a:pPr>
            <a:r>
              <a:rPr sz="1250" b="1" i="0">
                <a:solidFill>
                  <a:srgbClr val="16A34A"/>
                </a:solidFill>
                <a:latin typeface="Segoe UI"/>
              </a:rPr>
              <a:t>✓  Fixtures &amp; lifecycle + metrics tracking</a:t>
            </a:r>
          </a:p>
          <a:p>
            <a:pPr>
              <a:spcAft>
                <a:spcPts val="600"/>
              </a:spcAft>
            </a:pPr>
            <a:r>
              <a:rPr sz="1250" b="1" i="0">
                <a:solidFill>
                  <a:srgbClr val="16A34A"/>
                </a:solidFill>
                <a:latin typeface="Segoe UI"/>
              </a:rPr>
              <a:t>✓  API testing with multi-auth strategies</a:t>
            </a:r>
          </a:p>
          <a:p>
            <a:pPr>
              <a:spcAft>
                <a:spcPts val="600"/>
              </a:spcAft>
            </a:pPr>
            <a:r>
              <a:rPr sz="1250" b="1" i="0">
                <a:solidFill>
                  <a:srgbClr val="16A34A"/>
                </a:solidFill>
                <a:latin typeface="Segoe UI"/>
              </a:rPr>
              <a:t>✓  Structured logging &amp; observability</a:t>
            </a:r>
          </a:p>
          <a:p>
            <a:pPr>
              <a:spcAft>
                <a:spcPts val="600"/>
              </a:spcAft>
            </a:pPr>
            <a:r>
              <a:rPr sz="1250" b="1" i="0">
                <a:solidFill>
                  <a:srgbClr val="16A34A"/>
                </a:solidFill>
                <a:latin typeface="Segoe UI"/>
              </a:rPr>
              <a:t>✓  Rich Email &amp; Slack + Allure size-fix</a:t>
            </a:r>
          </a:p>
          <a:p>
            <a:pPr>
              <a:spcAft>
                <a:spcPts val="600"/>
              </a:spcAft>
            </a:pPr>
            <a:r>
              <a:rPr sz="1250" b="0" i="0">
                <a:solidFill>
                  <a:srgbClr val="F19E0B"/>
                </a:solidFill>
                <a:latin typeface="Segoe UI"/>
              </a:rPr>
              <a:t>◷  Broaden spec coverage beyond login</a:t>
            </a:r>
          </a:p>
        </p:txBody>
      </p:sp>
      <p:sp>
        <p:nvSpPr>
          <p:cNvPr id="9" name="Rounded Rectangle 8"/>
          <p:cNvSpPr/>
          <p:nvPr/>
        </p:nvSpPr>
        <p:spPr>
          <a:xfrm>
            <a:off x="6172200" y="1234440"/>
            <a:ext cx="5440680" cy="4297680"/>
          </a:xfrm>
          <a:prstGeom prst="roundRect">
            <a:avLst/>
          </a:prstGeom>
          <a:solidFill>
            <a:srgbClr val="F7F9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17320"/>
            <a:ext cx="4892040" cy="3931920"/>
          </a:xfrm>
          <a:prstGeom prst="rect">
            <a:avLst/>
          </a:prstGeom>
          <a:noFill/>
        </p:spPr>
        <p:txBody>
          <a:bodyPr wrap="square" anchor="t" lIns="0" rIns="0" tIns="0" bIns="0">
            <a:spAutoFit/>
          </a:bodyPr>
          <a:lstStyle/>
          <a:p>
            <a:pPr algn="l">
              <a:spcBef>
                <a:spcPts val="0"/>
              </a:spcBef>
              <a:spcAft>
                <a:spcPts val="800"/>
              </a:spcAft>
            </a:pPr>
            <a:r>
              <a:rPr sz="1500" b="1" i="0">
                <a:solidFill>
                  <a:srgbClr val="0F2D4A"/>
                </a:solidFill>
                <a:latin typeface="Segoe UI"/>
              </a:rPr>
              <a:t>CI/CD &amp; Migration</a:t>
            </a:r>
          </a:p>
          <a:p>
            <a:pPr>
              <a:spcAft>
                <a:spcPts val="600"/>
              </a:spcAft>
            </a:pPr>
            <a:r>
              <a:rPr sz="1250" b="1" i="0">
                <a:solidFill>
                  <a:srgbClr val="16A34A"/>
                </a:solidFill>
                <a:latin typeface="Segoe UI"/>
              </a:rPr>
              <a:t>✓  Pipeline (install, browsers, test run)</a:t>
            </a:r>
          </a:p>
          <a:p>
            <a:pPr>
              <a:spcAft>
                <a:spcPts val="600"/>
              </a:spcAft>
            </a:pPr>
            <a:r>
              <a:rPr sz="1250" b="1" i="0">
                <a:solidFill>
                  <a:srgbClr val="16A34A"/>
                </a:solidFill>
                <a:latin typeface="Segoe UI"/>
              </a:rPr>
              <a:t>✓  Triggers: push, cron, manual, dispatch</a:t>
            </a:r>
          </a:p>
          <a:p>
            <a:pPr>
              <a:spcAft>
                <a:spcPts val="600"/>
              </a:spcAft>
            </a:pPr>
            <a:r>
              <a:rPr sz="1250" b="1" i="0">
                <a:solidFill>
                  <a:srgbClr val="16A34A"/>
                </a:solidFill>
                <a:latin typeface="Segoe UI"/>
              </a:rPr>
              <a:t>✓  Reporting &amp; artifacts + Allure trend</a:t>
            </a:r>
          </a:p>
          <a:p>
            <a:pPr>
              <a:spcAft>
                <a:spcPts val="600"/>
              </a:spcAft>
            </a:pPr>
            <a:r>
              <a:rPr sz="1250" b="1" i="0">
                <a:solidFill>
                  <a:srgbClr val="16A34A"/>
                </a:solidFill>
                <a:latin typeface="Segoe UI"/>
              </a:rPr>
              <a:t>✓  Environment config &amp; secrets</a:t>
            </a:r>
          </a:p>
          <a:p>
            <a:pPr>
              <a:spcAft>
                <a:spcPts val="600"/>
              </a:spcAft>
            </a:pPr>
            <a:r>
              <a:rPr sz="1250" b="0" i="0">
                <a:solidFill>
                  <a:srgbClr val="F19E0B"/>
                </a:solidFill>
                <a:latin typeface="Segoe UI"/>
              </a:rPr>
              <a:t>◷  ELK dashboard — connect live endpoint</a:t>
            </a:r>
          </a:p>
          <a:p>
            <a:pPr>
              <a:spcAft>
                <a:spcPts val="600"/>
              </a:spcAft>
            </a:pPr>
            <a:r>
              <a:rPr sz="1250" b="0" i="0">
                <a:solidFill>
                  <a:srgbClr val="F19E0B"/>
                </a:solidFill>
                <a:latin typeface="Segoe UI"/>
              </a:rPr>
              <a:t>◷  Migrate web-pet e2e (56 specs) onto platform</a:t>
            </a:r>
          </a:p>
          <a:p>
            <a:pPr>
              <a:spcAft>
                <a:spcPts val="600"/>
              </a:spcAft>
            </a:pPr>
            <a:r>
              <a:rPr sz="1250" b="0" i="0">
                <a:solidFill>
                  <a:srgbClr val="F19E0B"/>
                </a:solidFill>
                <a:latin typeface="Segoe UI"/>
              </a:rPr>
              <a:t>◷  Preserve equiv/ parity + port picker helpers</a:t>
            </a:r>
          </a:p>
        </p:txBody>
      </p:sp>
      <p:sp>
        <p:nvSpPr>
          <p:cNvPr id="11" name="TextBox 10"/>
          <p:cNvSpPr txBox="1"/>
          <p:nvPr/>
        </p:nvSpPr>
        <p:spPr>
          <a:xfrm>
            <a:off x="548640" y="5760720"/>
            <a:ext cx="11094415" cy="365760"/>
          </a:xfrm>
          <a:prstGeom prst="rect">
            <a:avLst/>
          </a:prstGeom>
          <a:noFill/>
        </p:spPr>
        <p:txBody>
          <a:bodyPr wrap="square" anchor="t" lIns="0" rIns="0" tIns="0" bIns="0">
            <a:spAutoFit/>
          </a:bodyPr>
          <a:lstStyle/>
          <a:p>
            <a:r>
              <a:rPr sz="1200" b="1" i="0">
                <a:solidFill>
                  <a:srgbClr val="16A34A"/>
                </a:solidFill>
                <a:latin typeface="Segoe UI"/>
              </a:rPr>
              <a:t>✓  Done      </a:t>
            </a:r>
            <a:r>
              <a:rPr sz="1200" b="1" i="0">
                <a:solidFill>
                  <a:srgbClr val="F19E0B"/>
                </a:solidFill>
                <a:latin typeface="Segoe UI"/>
              </a:rPr>
              <a:t>◷  In progress /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